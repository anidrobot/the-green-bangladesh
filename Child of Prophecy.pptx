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uce" panose="020B0604020202020204" charset="0"/>
      <p:regular r:id="rId21"/>
    </p:embeddedFont>
    <p:embeddedFont>
      <p:font typeface="Open Sauce Bold" panose="020B0604020202020204" charset="0"/>
      <p:regular r:id="rId22"/>
    </p:embeddedFont>
    <p:embeddedFont>
      <p:font typeface="Open Sauce Semi-Bold" panose="020B0604020202020204" charset="0"/>
      <p:regular r:id="rId23"/>
    </p:embeddedFont>
    <p:embeddedFont>
      <p:font typeface="Telegraf" panose="020B0604020202020204" charset="0"/>
      <p:regular r:id="rId24"/>
    </p:embeddedFont>
    <p:embeddedFont>
      <p:font typeface="Telegraf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C3CFE-5136-45D2-B77D-C5958D64B283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3FDE7-E94B-4587-8869-A324DAE1D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5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3FDE7-E94B-4587-8869-A324DAE1D3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4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8.sv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3.svg"/><Relationship Id="rId5" Type="http://schemas.openxmlformats.org/officeDocument/2006/relationships/image" Target="../media/image10.png"/><Relationship Id="rId10" Type="http://schemas.openxmlformats.org/officeDocument/2006/relationships/image" Target="../media/image2.png"/><Relationship Id="rId4" Type="http://schemas.openxmlformats.org/officeDocument/2006/relationships/image" Target="../media/image8.sv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8.sv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4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4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8.sv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7.png"/><Relationship Id="rId7" Type="http://schemas.openxmlformats.org/officeDocument/2006/relationships/image" Target="../media/image26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8.sv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5.png"/><Relationship Id="rId5" Type="http://schemas.openxmlformats.org/officeDocument/2006/relationships/image" Target="../media/image10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29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5967482" y="-2004979"/>
            <a:ext cx="6353034" cy="18287999"/>
            <a:chOff x="0" y="0"/>
            <a:chExt cx="1673227" cy="49849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73227" cy="4984943"/>
            </a:xfrm>
            <a:custGeom>
              <a:avLst/>
              <a:gdLst/>
              <a:ahLst/>
              <a:cxnLst/>
              <a:rect l="l" t="t" r="r" b="b"/>
              <a:pathLst>
                <a:path w="1673227" h="4984943">
                  <a:moveTo>
                    <a:pt x="0" y="0"/>
                  </a:moveTo>
                  <a:lnTo>
                    <a:pt x="1673227" y="0"/>
                  </a:lnTo>
                  <a:lnTo>
                    <a:pt x="1673227" y="4984943"/>
                  </a:lnTo>
                  <a:lnTo>
                    <a:pt x="0" y="498494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73227" cy="5023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900443" y="4527394"/>
            <a:ext cx="20264693" cy="393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47"/>
              </a:lnSpc>
              <a:spcBef>
                <a:spcPct val="0"/>
              </a:spcBef>
            </a:pPr>
            <a:r>
              <a:rPr lang="en-US" sz="22962" b="1" spc="-1722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Bangladesh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1028700" y="6436172"/>
            <a:ext cx="1623060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1028700" y="9253537"/>
            <a:ext cx="1623060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028700" y="5143500"/>
            <a:ext cx="307294" cy="307294"/>
          </a:xfrm>
          <a:custGeom>
            <a:avLst/>
            <a:gdLst/>
            <a:ahLst/>
            <a:cxnLst/>
            <a:rect l="l" t="t" r="r" b="b"/>
            <a:pathLst>
              <a:path w="307294" h="307294">
                <a:moveTo>
                  <a:pt x="0" y="0"/>
                </a:moveTo>
                <a:lnTo>
                  <a:pt x="307294" y="0"/>
                </a:lnTo>
                <a:lnTo>
                  <a:pt x="307294" y="307294"/>
                </a:lnTo>
                <a:lnTo>
                  <a:pt x="0" y="307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952006" y="5143500"/>
            <a:ext cx="307294" cy="307294"/>
          </a:xfrm>
          <a:custGeom>
            <a:avLst/>
            <a:gdLst/>
            <a:ahLst/>
            <a:cxnLst/>
            <a:rect l="l" t="t" r="r" b="b"/>
            <a:pathLst>
              <a:path w="307294" h="307294">
                <a:moveTo>
                  <a:pt x="0" y="0"/>
                </a:moveTo>
                <a:lnTo>
                  <a:pt x="307294" y="0"/>
                </a:lnTo>
                <a:lnTo>
                  <a:pt x="307294" y="307294"/>
                </a:lnTo>
                <a:lnTo>
                  <a:pt x="0" y="307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684219">
            <a:off x="3133990" y="5697494"/>
            <a:ext cx="2475266" cy="1513007"/>
          </a:xfrm>
          <a:custGeom>
            <a:avLst/>
            <a:gdLst/>
            <a:ahLst/>
            <a:cxnLst/>
            <a:rect l="l" t="t" r="r" b="b"/>
            <a:pathLst>
              <a:path w="2475266" h="1513007">
                <a:moveTo>
                  <a:pt x="0" y="0"/>
                </a:moveTo>
                <a:lnTo>
                  <a:pt x="2475267" y="0"/>
                </a:lnTo>
                <a:lnTo>
                  <a:pt x="2475267" y="1513006"/>
                </a:lnTo>
                <a:lnTo>
                  <a:pt x="0" y="15130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637801" flipH="1">
            <a:off x="9074647" y="2938775"/>
            <a:ext cx="2753524" cy="1452484"/>
          </a:xfrm>
          <a:custGeom>
            <a:avLst/>
            <a:gdLst/>
            <a:ahLst/>
            <a:cxnLst/>
            <a:rect l="l" t="t" r="r" b="b"/>
            <a:pathLst>
              <a:path w="2753524" h="1452484">
                <a:moveTo>
                  <a:pt x="2753523" y="0"/>
                </a:moveTo>
                <a:lnTo>
                  <a:pt x="0" y="0"/>
                </a:lnTo>
                <a:lnTo>
                  <a:pt x="0" y="1452484"/>
                </a:lnTo>
                <a:lnTo>
                  <a:pt x="2753523" y="1452484"/>
                </a:lnTo>
                <a:lnTo>
                  <a:pt x="2753523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185786" y="3458995"/>
            <a:ext cx="447874" cy="44787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-1176065" y="1729334"/>
            <a:ext cx="20264693" cy="4089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07"/>
              </a:lnSpc>
              <a:spcBef>
                <a:spcPct val="0"/>
              </a:spcBef>
            </a:pPr>
            <a:r>
              <a:rPr lang="en-US" sz="23862" b="1" spc="-178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Green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88" b="-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1028700" y="9253537"/>
            <a:ext cx="1623060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028700" y="8736693"/>
            <a:ext cx="307294" cy="307294"/>
          </a:xfrm>
          <a:custGeom>
            <a:avLst/>
            <a:gdLst/>
            <a:ahLst/>
            <a:cxnLst/>
            <a:rect l="l" t="t" r="r" b="b"/>
            <a:pathLst>
              <a:path w="307294" h="307294">
                <a:moveTo>
                  <a:pt x="0" y="0"/>
                </a:moveTo>
                <a:lnTo>
                  <a:pt x="307294" y="0"/>
                </a:lnTo>
                <a:lnTo>
                  <a:pt x="307294" y="307295"/>
                </a:lnTo>
                <a:lnTo>
                  <a:pt x="0" y="3072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-5400000">
            <a:off x="5605018" y="-2357882"/>
            <a:ext cx="7077963" cy="18288000"/>
            <a:chOff x="0" y="0"/>
            <a:chExt cx="1864155" cy="49849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64155" cy="4984943"/>
            </a:xfrm>
            <a:custGeom>
              <a:avLst/>
              <a:gdLst/>
              <a:ahLst/>
              <a:cxnLst/>
              <a:rect l="l" t="t" r="r" b="b"/>
              <a:pathLst>
                <a:path w="1864155" h="4984943">
                  <a:moveTo>
                    <a:pt x="0" y="0"/>
                  </a:moveTo>
                  <a:lnTo>
                    <a:pt x="1864155" y="0"/>
                  </a:lnTo>
                  <a:lnTo>
                    <a:pt x="1864155" y="4984943"/>
                  </a:lnTo>
                  <a:lnTo>
                    <a:pt x="0" y="498494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64155" cy="5023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952006" y="8736693"/>
            <a:ext cx="307294" cy="307294"/>
          </a:xfrm>
          <a:custGeom>
            <a:avLst/>
            <a:gdLst/>
            <a:ahLst/>
            <a:cxnLst/>
            <a:rect l="l" t="t" r="r" b="b"/>
            <a:pathLst>
              <a:path w="307294" h="307294">
                <a:moveTo>
                  <a:pt x="0" y="0"/>
                </a:moveTo>
                <a:lnTo>
                  <a:pt x="307294" y="0"/>
                </a:lnTo>
                <a:lnTo>
                  <a:pt x="307294" y="307295"/>
                </a:lnTo>
                <a:lnTo>
                  <a:pt x="0" y="3072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65579" y="5385112"/>
            <a:ext cx="13532650" cy="2130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5600" b="1" spc="-42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Nature is not a place we visit — it’s our origin, our responsibility, and the core of everything we create.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17245" y="2109680"/>
            <a:ext cx="13532650" cy="2583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65"/>
              </a:lnSpc>
            </a:pPr>
            <a:r>
              <a:rPr lang="en-US" sz="10066" b="1" spc="-754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  <a:r>
              <a:rPr lang="en-US" sz="10066" b="1" spc="-754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10066" b="1" spc="-754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 – From Nature to Need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94154" y="8496739"/>
            <a:ext cx="13532650" cy="623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4800" b="1" spc="-36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Presented by: Anidro Paul &amp; MD </a:t>
            </a:r>
            <a:r>
              <a:rPr lang="en-US" sz="4800" b="1" spc="-360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Nure</a:t>
            </a:r>
            <a:r>
              <a:rPr lang="en-US" sz="4800" b="1" spc="-36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  <a:r>
              <a:rPr lang="en-US" sz="4800" b="1" spc="-360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Alam</a:t>
            </a:r>
            <a:r>
              <a:rPr lang="en-US" sz="4800" b="1" spc="-36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2500" y="1532054"/>
            <a:ext cx="11259001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60"/>
              </a:lnSpc>
              <a:spcBef>
                <a:spcPct val="0"/>
              </a:spcBef>
            </a:pPr>
            <a:r>
              <a:rPr lang="en-US" sz="14400" b="1" spc="-10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introduction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693076"/>
            <a:ext cx="254412" cy="254412"/>
          </a:xfrm>
          <a:custGeom>
            <a:avLst/>
            <a:gdLst/>
            <a:ahLst/>
            <a:cxnLst/>
            <a:rect l="l" t="t" r="r" b="b"/>
            <a:pathLst>
              <a:path w="254412" h="254412">
                <a:moveTo>
                  <a:pt x="0" y="0"/>
                </a:moveTo>
                <a:lnTo>
                  <a:pt x="254412" y="0"/>
                </a:lnTo>
                <a:lnTo>
                  <a:pt x="254412" y="254412"/>
                </a:lnTo>
                <a:lnTo>
                  <a:pt x="0" y="2544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1028700" y="4129087"/>
            <a:ext cx="1623060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028700" y="6234112"/>
            <a:ext cx="1623060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2287701" y="2520315"/>
            <a:ext cx="4971599" cy="6737985"/>
            <a:chOff x="0" y="0"/>
            <a:chExt cx="770231" cy="10438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70231" cy="1043890"/>
            </a:xfrm>
            <a:custGeom>
              <a:avLst/>
              <a:gdLst/>
              <a:ahLst/>
              <a:cxnLst/>
              <a:rect l="l" t="t" r="r" b="b"/>
              <a:pathLst>
                <a:path w="770231" h="1043890">
                  <a:moveTo>
                    <a:pt x="35816" y="0"/>
                  </a:moveTo>
                  <a:lnTo>
                    <a:pt x="734415" y="0"/>
                  </a:lnTo>
                  <a:cubicBezTo>
                    <a:pt x="743914" y="0"/>
                    <a:pt x="753024" y="3773"/>
                    <a:pt x="759740" y="10490"/>
                  </a:cubicBezTo>
                  <a:cubicBezTo>
                    <a:pt x="766457" y="17207"/>
                    <a:pt x="770231" y="26317"/>
                    <a:pt x="770231" y="35816"/>
                  </a:cubicBezTo>
                  <a:lnTo>
                    <a:pt x="770231" y="1008074"/>
                  </a:lnTo>
                  <a:cubicBezTo>
                    <a:pt x="770231" y="1017573"/>
                    <a:pt x="766457" y="1026683"/>
                    <a:pt x="759740" y="1033400"/>
                  </a:cubicBezTo>
                  <a:cubicBezTo>
                    <a:pt x="753024" y="1040117"/>
                    <a:pt x="743914" y="1043890"/>
                    <a:pt x="734415" y="1043890"/>
                  </a:cubicBezTo>
                  <a:lnTo>
                    <a:pt x="35816" y="1043890"/>
                  </a:lnTo>
                  <a:cubicBezTo>
                    <a:pt x="26317" y="1043890"/>
                    <a:pt x="17207" y="1040117"/>
                    <a:pt x="10490" y="1033400"/>
                  </a:cubicBezTo>
                  <a:cubicBezTo>
                    <a:pt x="3773" y="1026683"/>
                    <a:pt x="0" y="1017573"/>
                    <a:pt x="0" y="1008074"/>
                  </a:cubicBezTo>
                  <a:lnTo>
                    <a:pt x="0" y="35816"/>
                  </a:lnTo>
                  <a:cubicBezTo>
                    <a:pt x="0" y="26317"/>
                    <a:pt x="3773" y="17207"/>
                    <a:pt x="10490" y="10490"/>
                  </a:cubicBezTo>
                  <a:cubicBezTo>
                    <a:pt x="17207" y="3773"/>
                    <a:pt x="26317" y="0"/>
                    <a:pt x="35816" y="0"/>
                  </a:cubicBezTo>
                  <a:close/>
                </a:path>
              </a:pathLst>
            </a:custGeom>
            <a:blipFill>
              <a:blip r:embed="rId7"/>
              <a:stretch>
                <a:fillRect t="-5439" b="-5439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0394503" y="8949866"/>
            <a:ext cx="553296" cy="316888"/>
          </a:xfrm>
          <a:custGeom>
            <a:avLst/>
            <a:gdLst/>
            <a:ahLst/>
            <a:cxnLst/>
            <a:rect l="l" t="t" r="r" b="b"/>
            <a:pathLst>
              <a:path w="553296" h="316888">
                <a:moveTo>
                  <a:pt x="0" y="0"/>
                </a:moveTo>
                <a:lnTo>
                  <a:pt x="553295" y="0"/>
                </a:lnTo>
                <a:lnTo>
                  <a:pt x="553295" y="316887"/>
                </a:lnTo>
                <a:lnTo>
                  <a:pt x="0" y="3168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394503" y="5210175"/>
            <a:ext cx="2631533" cy="2414131"/>
            <a:chOff x="0" y="0"/>
            <a:chExt cx="693079" cy="6358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3079" cy="635820"/>
            </a:xfrm>
            <a:custGeom>
              <a:avLst/>
              <a:gdLst/>
              <a:ahLst/>
              <a:cxnLst/>
              <a:rect l="l" t="t" r="r" b="b"/>
              <a:pathLst>
                <a:path w="693079" h="635820">
                  <a:moveTo>
                    <a:pt x="44130" y="0"/>
                  </a:moveTo>
                  <a:lnTo>
                    <a:pt x="648949" y="0"/>
                  </a:lnTo>
                  <a:cubicBezTo>
                    <a:pt x="660653" y="0"/>
                    <a:pt x="671877" y="4649"/>
                    <a:pt x="680153" y="12925"/>
                  </a:cubicBezTo>
                  <a:cubicBezTo>
                    <a:pt x="688429" y="21201"/>
                    <a:pt x="693079" y="32426"/>
                    <a:pt x="693079" y="44130"/>
                  </a:cubicBezTo>
                  <a:lnTo>
                    <a:pt x="693079" y="591691"/>
                  </a:lnTo>
                  <a:cubicBezTo>
                    <a:pt x="693079" y="616063"/>
                    <a:pt x="673321" y="635820"/>
                    <a:pt x="648949" y="635820"/>
                  </a:cubicBezTo>
                  <a:lnTo>
                    <a:pt x="44130" y="635820"/>
                  </a:lnTo>
                  <a:cubicBezTo>
                    <a:pt x="19758" y="635820"/>
                    <a:pt x="0" y="616063"/>
                    <a:pt x="0" y="591691"/>
                  </a:cubicBezTo>
                  <a:lnTo>
                    <a:pt x="0" y="44130"/>
                  </a:lnTo>
                  <a:cubicBezTo>
                    <a:pt x="0" y="19758"/>
                    <a:pt x="19758" y="0"/>
                    <a:pt x="44130" y="0"/>
                  </a:cubicBezTo>
                  <a:close/>
                </a:path>
              </a:pathLst>
            </a:custGeom>
            <a:solidFill>
              <a:srgbClr val="061B02"/>
            </a:solidFill>
            <a:ln w="9525" cap="sq">
              <a:solidFill>
                <a:srgbClr val="81B92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693079" cy="69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9017741" y="2909966"/>
            <a:ext cx="2753524" cy="1452484"/>
          </a:xfrm>
          <a:custGeom>
            <a:avLst/>
            <a:gdLst/>
            <a:ahLst/>
            <a:cxnLst/>
            <a:rect l="l" t="t" r="r" b="b"/>
            <a:pathLst>
              <a:path w="2753524" h="1452484">
                <a:moveTo>
                  <a:pt x="2753524" y="0"/>
                </a:moveTo>
                <a:lnTo>
                  <a:pt x="0" y="0"/>
                </a:lnTo>
                <a:lnTo>
                  <a:pt x="0" y="1452484"/>
                </a:lnTo>
                <a:lnTo>
                  <a:pt x="2753524" y="1452484"/>
                </a:lnTo>
                <a:lnTo>
                  <a:pt x="2753524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8904" y="657054"/>
            <a:ext cx="143966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Salford &amp; Co.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233862"/>
            <a:ext cx="693840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27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What is </a:t>
            </a:r>
            <a:r>
              <a:rPr lang="en-US" sz="3600" b="1" spc="-270" dirty="0" err="1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3600" b="1" spc="-27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6343650"/>
            <a:ext cx="8918933" cy="174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799" spc="-97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It’s often treated as waste but holds hidden potential:</a:t>
            </a:r>
          </a:p>
          <a:p>
            <a:pPr marL="561341" lvl="1" indent="-280670" algn="just">
              <a:lnSpc>
                <a:spcPts val="3380"/>
              </a:lnSpc>
              <a:buFont typeface="Arial"/>
              <a:buChar char="•"/>
            </a:pPr>
            <a:r>
              <a:rPr lang="en-US" sz="2600" spc="-9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Strong natural fiber</a:t>
            </a:r>
          </a:p>
          <a:p>
            <a:pPr marL="561341" lvl="1" indent="-280670" algn="just">
              <a:lnSpc>
                <a:spcPts val="3380"/>
              </a:lnSpc>
              <a:buFont typeface="Arial"/>
              <a:buChar char="•"/>
            </a:pPr>
            <a:r>
              <a:rPr lang="en-US" sz="2600" spc="-9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floral fragrance in its flowers</a:t>
            </a:r>
          </a:p>
          <a:p>
            <a:pPr marL="561341" lvl="1" indent="-280670" algn="just">
              <a:lnSpc>
                <a:spcPts val="3380"/>
              </a:lnSpc>
              <a:buFont typeface="Arial"/>
              <a:buChar char="•"/>
            </a:pPr>
            <a:r>
              <a:rPr lang="en-US" sz="2600" spc="-9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Biodegradable and abundant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00173" y="5875585"/>
            <a:ext cx="1784635" cy="103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spc="-112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Water Hyacinth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4948238"/>
            <a:ext cx="951524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270" dirty="0" err="1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3600" b="1" spc="-27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 (Water Hyacinth) is a common aquatic plant found in rural Bangladesh.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2500" y="8455660"/>
            <a:ext cx="8918933" cy="177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799" spc="-97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are upcycling this resource into:</a:t>
            </a:r>
          </a:p>
          <a:p>
            <a:pPr marL="561341" lvl="1" indent="-280670" algn="just">
              <a:lnSpc>
                <a:spcPts val="3380"/>
              </a:lnSpc>
              <a:buFont typeface="Arial"/>
              <a:buChar char="•"/>
            </a:pPr>
            <a:r>
              <a:rPr lang="en-US" sz="2600" spc="-9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Handmade crafts for Fiverr</a:t>
            </a:r>
          </a:p>
          <a:p>
            <a:pPr marL="561341" lvl="1" indent="-280670" algn="just">
              <a:lnSpc>
                <a:spcPts val="3380"/>
              </a:lnSpc>
              <a:buFont typeface="Arial"/>
              <a:buChar char="•"/>
            </a:pPr>
            <a:r>
              <a:rPr lang="en-US" sz="2600" spc="-9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Eco washroom fragrances from </a:t>
            </a:r>
            <a:r>
              <a:rPr lang="en-US" sz="2600" spc="-91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Kocuri</a:t>
            </a:r>
            <a:r>
              <a:rPr lang="en-US" sz="2600" spc="-9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flowers</a:t>
            </a:r>
          </a:p>
          <a:p>
            <a:pPr algn="just">
              <a:lnSpc>
                <a:spcPts val="3639"/>
              </a:lnSpc>
            </a:pPr>
            <a:endParaRPr lang="en-US" sz="2600" spc="-91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693076"/>
            <a:ext cx="254412" cy="254412"/>
          </a:xfrm>
          <a:custGeom>
            <a:avLst/>
            <a:gdLst/>
            <a:ahLst/>
            <a:cxnLst/>
            <a:rect l="l" t="t" r="r" b="b"/>
            <a:pathLst>
              <a:path w="254412" h="254412">
                <a:moveTo>
                  <a:pt x="0" y="0"/>
                </a:moveTo>
                <a:lnTo>
                  <a:pt x="254412" y="0"/>
                </a:lnTo>
                <a:lnTo>
                  <a:pt x="254412" y="254412"/>
                </a:lnTo>
                <a:lnTo>
                  <a:pt x="0" y="2544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H="1" flipV="1">
            <a:off x="3451350" y="6036295"/>
            <a:ext cx="0" cy="3825236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6036295"/>
            <a:ext cx="929757" cy="92975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07061" y="6036295"/>
            <a:ext cx="929757" cy="92975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93047" y="6036295"/>
            <a:ext cx="3222005" cy="322200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8057" y="0"/>
                  </a:moveTo>
                  <a:lnTo>
                    <a:pt x="764743" y="0"/>
                  </a:lnTo>
                  <a:cubicBezTo>
                    <a:pt x="791284" y="0"/>
                    <a:pt x="812800" y="21516"/>
                    <a:pt x="812800" y="48057"/>
                  </a:cubicBezTo>
                  <a:lnTo>
                    <a:pt x="812800" y="764743"/>
                  </a:lnTo>
                  <a:cubicBezTo>
                    <a:pt x="812800" y="791284"/>
                    <a:pt x="791284" y="812800"/>
                    <a:pt x="764743" y="812800"/>
                  </a:cubicBezTo>
                  <a:lnTo>
                    <a:pt x="48057" y="812800"/>
                  </a:lnTo>
                  <a:cubicBezTo>
                    <a:pt x="21516" y="812800"/>
                    <a:pt x="0" y="791284"/>
                    <a:pt x="0" y="764743"/>
                  </a:cubicBezTo>
                  <a:lnTo>
                    <a:pt x="0" y="48057"/>
                  </a:lnTo>
                  <a:cubicBezTo>
                    <a:pt x="0" y="21516"/>
                    <a:pt x="21516" y="0"/>
                    <a:pt x="48057" y="0"/>
                  </a:cubicBezTo>
                  <a:close/>
                </a:path>
              </a:pathLst>
            </a:custGeom>
            <a:blipFill>
              <a:blip r:embed="rId7"/>
              <a:stretch>
                <a:fillRect t="-11117" r="-142504" b="-952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4227795" y="2611060"/>
            <a:ext cx="3222005" cy="322200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8057" y="0"/>
                  </a:moveTo>
                  <a:lnTo>
                    <a:pt x="764743" y="0"/>
                  </a:lnTo>
                  <a:cubicBezTo>
                    <a:pt x="791284" y="0"/>
                    <a:pt x="812800" y="21516"/>
                    <a:pt x="812800" y="48057"/>
                  </a:cubicBezTo>
                  <a:lnTo>
                    <a:pt x="812800" y="764743"/>
                  </a:lnTo>
                  <a:cubicBezTo>
                    <a:pt x="812800" y="791284"/>
                    <a:pt x="791284" y="812800"/>
                    <a:pt x="764743" y="812800"/>
                  </a:cubicBezTo>
                  <a:lnTo>
                    <a:pt x="48057" y="812800"/>
                  </a:lnTo>
                  <a:cubicBezTo>
                    <a:pt x="21516" y="812800"/>
                    <a:pt x="0" y="791284"/>
                    <a:pt x="0" y="764743"/>
                  </a:cubicBezTo>
                  <a:lnTo>
                    <a:pt x="0" y="48057"/>
                  </a:lnTo>
                  <a:cubicBezTo>
                    <a:pt x="0" y="21516"/>
                    <a:pt x="21516" y="0"/>
                    <a:pt x="48057" y="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694456" y="2012825"/>
            <a:ext cx="8575774" cy="264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10"/>
              </a:lnSpc>
            </a:pPr>
            <a:r>
              <a:rPr lang="en-US" sz="11000" b="1" spc="-825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The Problem in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62843" y="3334380"/>
            <a:ext cx="8575774" cy="137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10"/>
              </a:lnSpc>
            </a:pPr>
            <a:r>
              <a:rPr lang="en-US" sz="11000" b="1" spc="-8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Bangladesh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07061" y="7342528"/>
            <a:ext cx="2829714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Natural resources like </a:t>
            </a:r>
            <a:r>
              <a:rPr lang="en-US" sz="3000" b="1" spc="-225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 remain underutilized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052586" y="6036295"/>
            <a:ext cx="929757" cy="92975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353382" y="6263049"/>
            <a:ext cx="32816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225">
                <a:solidFill>
                  <a:srgbClr val="061B0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2</a:t>
            </a:r>
          </a:p>
        </p:txBody>
      </p:sp>
      <p:sp>
        <p:nvSpPr>
          <p:cNvPr id="26" name="Freeform 26"/>
          <p:cNvSpPr/>
          <p:nvPr/>
        </p:nvSpPr>
        <p:spPr>
          <a:xfrm rot="-1320523" flipH="1">
            <a:off x="8130056" y="2058562"/>
            <a:ext cx="2611250" cy="1377434"/>
          </a:xfrm>
          <a:custGeom>
            <a:avLst/>
            <a:gdLst/>
            <a:ahLst/>
            <a:cxnLst/>
            <a:rect l="l" t="t" r="r" b="b"/>
            <a:pathLst>
              <a:path w="2611250" h="1377434">
                <a:moveTo>
                  <a:pt x="2611250" y="0"/>
                </a:moveTo>
                <a:lnTo>
                  <a:pt x="0" y="0"/>
                </a:lnTo>
                <a:lnTo>
                  <a:pt x="0" y="1377434"/>
                </a:lnTo>
                <a:lnTo>
                  <a:pt x="2611250" y="1377434"/>
                </a:lnTo>
                <a:lnTo>
                  <a:pt x="261125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6950150" y="8951006"/>
            <a:ext cx="307294" cy="307294"/>
          </a:xfrm>
          <a:custGeom>
            <a:avLst/>
            <a:gdLst/>
            <a:ahLst/>
            <a:cxnLst/>
            <a:rect l="l" t="t" r="r" b="b"/>
            <a:pathLst>
              <a:path w="307294" h="307294">
                <a:moveTo>
                  <a:pt x="0" y="0"/>
                </a:moveTo>
                <a:lnTo>
                  <a:pt x="307294" y="0"/>
                </a:lnTo>
                <a:lnTo>
                  <a:pt x="307294" y="307294"/>
                </a:lnTo>
                <a:lnTo>
                  <a:pt x="0" y="307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AutoShape 28"/>
          <p:cNvSpPr/>
          <p:nvPr/>
        </p:nvSpPr>
        <p:spPr>
          <a:xfrm flipH="1" flipV="1">
            <a:off x="6787948" y="6036295"/>
            <a:ext cx="0" cy="3825236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10259199" y="6036295"/>
            <a:ext cx="929757" cy="92975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 flipH="1" flipV="1">
            <a:off x="9973449" y="6036295"/>
            <a:ext cx="0" cy="3825236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8904" y="657054"/>
            <a:ext cx="143966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Salford &amp; Co.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7419975"/>
            <a:ext cx="2592137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 spc="-21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Plastic waste rising due to synthetic consumer goods</a:t>
            </a:r>
          </a:p>
          <a:p>
            <a:pPr algn="l">
              <a:lnSpc>
                <a:spcPts val="2879"/>
              </a:lnSpc>
            </a:pPr>
            <a:endParaRPr lang="en-US" sz="2899" b="1" spc="-217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  <a:p>
            <a:pPr algn="l">
              <a:lnSpc>
                <a:spcPts val="1439"/>
              </a:lnSpc>
            </a:pPr>
            <a:endParaRPr lang="en-US" sz="2899" b="1" spc="-217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052586" y="7419975"/>
            <a:ext cx="2494097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Youth unemployment is a growing concern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29497" y="6263049"/>
            <a:ext cx="32816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225">
                <a:solidFill>
                  <a:srgbClr val="061B0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07857" y="6263049"/>
            <a:ext cx="32816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225">
                <a:solidFill>
                  <a:srgbClr val="061B0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59996" y="6263049"/>
            <a:ext cx="32816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spc="-225">
                <a:solidFill>
                  <a:srgbClr val="061B0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59199" y="7342528"/>
            <a:ext cx="2829714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Most washroom fresheners use harmful chemicals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693076"/>
            <a:ext cx="254412" cy="254412"/>
          </a:xfrm>
          <a:custGeom>
            <a:avLst/>
            <a:gdLst/>
            <a:ahLst/>
            <a:cxnLst/>
            <a:rect l="l" t="t" r="r" b="b"/>
            <a:pathLst>
              <a:path w="254412" h="254412">
                <a:moveTo>
                  <a:pt x="0" y="0"/>
                </a:moveTo>
                <a:lnTo>
                  <a:pt x="254412" y="0"/>
                </a:lnTo>
                <a:lnTo>
                  <a:pt x="254412" y="254412"/>
                </a:lnTo>
                <a:lnTo>
                  <a:pt x="0" y="2544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83850" y="2194922"/>
            <a:ext cx="598525" cy="137345"/>
            <a:chOff x="0" y="0"/>
            <a:chExt cx="157636" cy="361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636" cy="36173"/>
            </a:xfrm>
            <a:custGeom>
              <a:avLst/>
              <a:gdLst/>
              <a:ahLst/>
              <a:cxnLst/>
              <a:rect l="l" t="t" r="r" b="b"/>
              <a:pathLst>
                <a:path w="157636" h="36173">
                  <a:moveTo>
                    <a:pt x="18087" y="0"/>
                  </a:moveTo>
                  <a:lnTo>
                    <a:pt x="139550" y="0"/>
                  </a:lnTo>
                  <a:cubicBezTo>
                    <a:pt x="144346" y="0"/>
                    <a:pt x="148947" y="1906"/>
                    <a:pt x="152339" y="5297"/>
                  </a:cubicBezTo>
                  <a:cubicBezTo>
                    <a:pt x="155731" y="8689"/>
                    <a:pt x="157636" y="13290"/>
                    <a:pt x="157636" y="18087"/>
                  </a:cubicBezTo>
                  <a:lnTo>
                    <a:pt x="157636" y="18087"/>
                  </a:lnTo>
                  <a:cubicBezTo>
                    <a:pt x="157636" y="28076"/>
                    <a:pt x="149539" y="36173"/>
                    <a:pt x="139550" y="36173"/>
                  </a:cubicBezTo>
                  <a:lnTo>
                    <a:pt x="18087" y="36173"/>
                  </a:lnTo>
                  <a:cubicBezTo>
                    <a:pt x="13290" y="36173"/>
                    <a:pt x="8689" y="34268"/>
                    <a:pt x="5297" y="30876"/>
                  </a:cubicBezTo>
                  <a:cubicBezTo>
                    <a:pt x="1906" y="27484"/>
                    <a:pt x="0" y="22883"/>
                    <a:pt x="0" y="18087"/>
                  </a:cubicBezTo>
                  <a:lnTo>
                    <a:pt x="0" y="18087"/>
                  </a:lnTo>
                  <a:cubicBezTo>
                    <a:pt x="0" y="13290"/>
                    <a:pt x="1906" y="8689"/>
                    <a:pt x="5297" y="5297"/>
                  </a:cubicBezTo>
                  <a:cubicBezTo>
                    <a:pt x="8689" y="1906"/>
                    <a:pt x="13290" y="0"/>
                    <a:pt x="18087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57636" cy="93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95782" y="5458611"/>
            <a:ext cx="8575774" cy="137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10"/>
              </a:lnSpc>
            </a:pPr>
            <a:r>
              <a:rPr lang="en-US" sz="11000" b="1" spc="-825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9175" y="2712971"/>
            <a:ext cx="5849736" cy="264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10"/>
              </a:lnSpc>
            </a:pPr>
            <a:r>
              <a:rPr lang="en-US" sz="11000" b="1" spc="-8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Our Green </a:t>
            </a:r>
          </a:p>
        </p:txBody>
      </p:sp>
      <p:sp>
        <p:nvSpPr>
          <p:cNvPr id="13" name="Freeform 13"/>
          <p:cNvSpPr/>
          <p:nvPr/>
        </p:nvSpPr>
        <p:spPr>
          <a:xfrm rot="-1212698" flipH="1">
            <a:off x="5102768" y="4907609"/>
            <a:ext cx="3282189" cy="1731355"/>
          </a:xfrm>
          <a:custGeom>
            <a:avLst/>
            <a:gdLst/>
            <a:ahLst/>
            <a:cxnLst/>
            <a:rect l="l" t="t" r="r" b="b"/>
            <a:pathLst>
              <a:path w="3282189" h="1731355">
                <a:moveTo>
                  <a:pt x="3282189" y="0"/>
                </a:moveTo>
                <a:lnTo>
                  <a:pt x="0" y="0"/>
                </a:lnTo>
                <a:lnTo>
                  <a:pt x="0" y="1731355"/>
                </a:lnTo>
                <a:lnTo>
                  <a:pt x="3282189" y="1731355"/>
                </a:lnTo>
                <a:lnTo>
                  <a:pt x="3282189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 flipV="1">
            <a:off x="11798320" y="3467935"/>
            <a:ext cx="546098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1798320" y="4761355"/>
            <a:ext cx="546098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1798320" y="6137144"/>
            <a:ext cx="546098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1794345" y="6789607"/>
            <a:ext cx="5464955" cy="2468693"/>
            <a:chOff x="0" y="0"/>
            <a:chExt cx="846665" cy="3824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6665" cy="382465"/>
            </a:xfrm>
            <a:custGeom>
              <a:avLst/>
              <a:gdLst/>
              <a:ahLst/>
              <a:cxnLst/>
              <a:rect l="l" t="t" r="r" b="b"/>
              <a:pathLst>
                <a:path w="846665" h="382465">
                  <a:moveTo>
                    <a:pt x="28333" y="0"/>
                  </a:moveTo>
                  <a:lnTo>
                    <a:pt x="818332" y="0"/>
                  </a:lnTo>
                  <a:cubicBezTo>
                    <a:pt x="825846" y="0"/>
                    <a:pt x="833053" y="2985"/>
                    <a:pt x="838366" y="8299"/>
                  </a:cubicBezTo>
                  <a:cubicBezTo>
                    <a:pt x="843680" y="13612"/>
                    <a:pt x="846665" y="20819"/>
                    <a:pt x="846665" y="28333"/>
                  </a:cubicBezTo>
                  <a:lnTo>
                    <a:pt x="846665" y="354132"/>
                  </a:lnTo>
                  <a:cubicBezTo>
                    <a:pt x="846665" y="369780"/>
                    <a:pt x="833980" y="382465"/>
                    <a:pt x="818332" y="382465"/>
                  </a:cubicBezTo>
                  <a:lnTo>
                    <a:pt x="28333" y="382465"/>
                  </a:lnTo>
                  <a:cubicBezTo>
                    <a:pt x="12685" y="382465"/>
                    <a:pt x="0" y="369780"/>
                    <a:pt x="0" y="354132"/>
                  </a:cubicBezTo>
                  <a:lnTo>
                    <a:pt x="0" y="28333"/>
                  </a:lnTo>
                  <a:cubicBezTo>
                    <a:pt x="0" y="12685"/>
                    <a:pt x="12685" y="0"/>
                    <a:pt x="28333" y="0"/>
                  </a:cubicBezTo>
                  <a:close/>
                </a:path>
              </a:pathLst>
            </a:custGeom>
            <a:blipFill>
              <a:blip r:embed="rId8"/>
              <a:stretch>
                <a:fillRect t="-23790" b="-23790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8303064" y="2387420"/>
            <a:ext cx="2373934" cy="237393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24" y="0"/>
                  </a:moveTo>
                  <a:lnTo>
                    <a:pt x="747576" y="0"/>
                  </a:lnTo>
                  <a:cubicBezTo>
                    <a:pt x="764874" y="0"/>
                    <a:pt x="781464" y="6872"/>
                    <a:pt x="793696" y="19104"/>
                  </a:cubicBezTo>
                  <a:cubicBezTo>
                    <a:pt x="805928" y="31336"/>
                    <a:pt x="812800" y="47926"/>
                    <a:pt x="812800" y="65224"/>
                  </a:cubicBezTo>
                  <a:lnTo>
                    <a:pt x="812800" y="747576"/>
                  </a:lnTo>
                  <a:cubicBezTo>
                    <a:pt x="812800" y="764874"/>
                    <a:pt x="805928" y="781464"/>
                    <a:pt x="793696" y="793696"/>
                  </a:cubicBezTo>
                  <a:cubicBezTo>
                    <a:pt x="781464" y="805928"/>
                    <a:pt x="764874" y="812800"/>
                    <a:pt x="747576" y="812800"/>
                  </a:cubicBezTo>
                  <a:lnTo>
                    <a:pt x="65224" y="812800"/>
                  </a:lnTo>
                  <a:cubicBezTo>
                    <a:pt x="47926" y="812800"/>
                    <a:pt x="31336" y="805928"/>
                    <a:pt x="19104" y="793696"/>
                  </a:cubicBezTo>
                  <a:cubicBezTo>
                    <a:pt x="6872" y="781464"/>
                    <a:pt x="0" y="764874"/>
                    <a:pt x="0" y="747576"/>
                  </a:cubicBezTo>
                  <a:lnTo>
                    <a:pt x="0" y="65224"/>
                  </a:lnTo>
                  <a:cubicBezTo>
                    <a:pt x="0" y="47926"/>
                    <a:pt x="6872" y="31336"/>
                    <a:pt x="19104" y="19104"/>
                  </a:cubicBezTo>
                  <a:cubicBezTo>
                    <a:pt x="31336" y="6872"/>
                    <a:pt x="47926" y="0"/>
                    <a:pt x="65224" y="0"/>
                  </a:cubicBezTo>
                  <a:close/>
                </a:path>
              </a:pathLst>
            </a:custGeom>
            <a:blipFill>
              <a:blip r:embed="rId9"/>
              <a:stretch>
                <a:fillRect l="-31799" r="-31799"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 rot="684219">
            <a:off x="8641453" y="4394368"/>
            <a:ext cx="2475266" cy="1513007"/>
          </a:xfrm>
          <a:custGeom>
            <a:avLst/>
            <a:gdLst/>
            <a:ahLst/>
            <a:cxnLst/>
            <a:rect l="l" t="t" r="r" b="b"/>
            <a:pathLst>
              <a:path w="2475266" h="1513007">
                <a:moveTo>
                  <a:pt x="0" y="0"/>
                </a:moveTo>
                <a:lnTo>
                  <a:pt x="2475267" y="0"/>
                </a:lnTo>
                <a:lnTo>
                  <a:pt x="2475267" y="1513006"/>
                </a:lnTo>
                <a:lnTo>
                  <a:pt x="0" y="1513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AutoShape 22"/>
          <p:cNvSpPr/>
          <p:nvPr/>
        </p:nvSpPr>
        <p:spPr>
          <a:xfrm flipV="1">
            <a:off x="11794345" y="2382658"/>
            <a:ext cx="546098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8904" y="657054"/>
            <a:ext cx="143966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Salford &amp; Co.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70352" y="1901645"/>
            <a:ext cx="551294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-1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Turn waste into wealth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88795" y="3761802"/>
            <a:ext cx="551294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-1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Handcraft unique products from dried leaves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98320" y="5137592"/>
            <a:ext cx="5512941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-18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Engage rural women and youth for production &amp; income</a:t>
            </a:r>
          </a:p>
          <a:p>
            <a:pPr algn="l">
              <a:lnSpc>
                <a:spcPts val="2880"/>
              </a:lnSpc>
            </a:pPr>
            <a:endParaRPr lang="en-US" sz="2400" b="1" spc="-180" dirty="0">
              <a:solidFill>
                <a:srgbClr val="81B922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64062" y="8191500"/>
            <a:ext cx="8575774" cy="113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4800" b="1" spc="-360" dirty="0" err="1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4800" b="1" spc="-36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 – The Power of Nature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07845" y="2567823"/>
            <a:ext cx="551294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-1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Extract natural fragrance from </a:t>
            </a:r>
            <a:r>
              <a:rPr lang="en-US" sz="2400" b="1" spc="-180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2400" b="1" spc="-1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flowers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098112" y="1687199"/>
            <a:ext cx="7008606" cy="2919811"/>
            <a:chOff x="0" y="0"/>
            <a:chExt cx="1085816" cy="452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5816" cy="452355"/>
            </a:xfrm>
            <a:custGeom>
              <a:avLst/>
              <a:gdLst/>
              <a:ahLst/>
              <a:cxnLst/>
              <a:rect l="l" t="t" r="r" b="b"/>
              <a:pathLst>
                <a:path w="1085816" h="452355">
                  <a:moveTo>
                    <a:pt x="22093" y="0"/>
                  </a:moveTo>
                  <a:lnTo>
                    <a:pt x="1063724" y="0"/>
                  </a:lnTo>
                  <a:cubicBezTo>
                    <a:pt x="1069583" y="0"/>
                    <a:pt x="1075202" y="2328"/>
                    <a:pt x="1079346" y="6471"/>
                  </a:cubicBezTo>
                  <a:cubicBezTo>
                    <a:pt x="1083489" y="10614"/>
                    <a:pt x="1085816" y="16233"/>
                    <a:pt x="1085816" y="22093"/>
                  </a:cubicBezTo>
                  <a:lnTo>
                    <a:pt x="1085816" y="430262"/>
                  </a:lnTo>
                  <a:cubicBezTo>
                    <a:pt x="1085816" y="436122"/>
                    <a:pt x="1083489" y="441741"/>
                    <a:pt x="1079346" y="445884"/>
                  </a:cubicBezTo>
                  <a:cubicBezTo>
                    <a:pt x="1075202" y="450027"/>
                    <a:pt x="1069583" y="452355"/>
                    <a:pt x="1063724" y="452355"/>
                  </a:cubicBezTo>
                  <a:lnTo>
                    <a:pt x="22093" y="452355"/>
                  </a:lnTo>
                  <a:cubicBezTo>
                    <a:pt x="16233" y="452355"/>
                    <a:pt x="10614" y="450027"/>
                    <a:pt x="6471" y="445884"/>
                  </a:cubicBezTo>
                  <a:cubicBezTo>
                    <a:pt x="2328" y="441741"/>
                    <a:pt x="0" y="436122"/>
                    <a:pt x="0" y="430262"/>
                  </a:cubicBezTo>
                  <a:lnTo>
                    <a:pt x="0" y="22093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3" y="0"/>
                  </a:cubicBezTo>
                  <a:close/>
                </a:path>
              </a:pathLst>
            </a:custGeom>
            <a:blipFill>
              <a:blip r:embed="rId5"/>
              <a:stretch>
                <a:fillRect t="-19881" b="-1988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6499668" y="5143500"/>
            <a:ext cx="759632" cy="435062"/>
          </a:xfrm>
          <a:custGeom>
            <a:avLst/>
            <a:gdLst/>
            <a:ahLst/>
            <a:cxnLst/>
            <a:rect l="l" t="t" r="r" b="b"/>
            <a:pathLst>
              <a:path w="759632" h="435062">
                <a:moveTo>
                  <a:pt x="0" y="0"/>
                </a:moveTo>
                <a:lnTo>
                  <a:pt x="759632" y="0"/>
                </a:lnTo>
                <a:lnTo>
                  <a:pt x="759632" y="435062"/>
                </a:lnTo>
                <a:lnTo>
                  <a:pt x="0" y="435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684219">
            <a:off x="6403734" y="6805731"/>
            <a:ext cx="2815430" cy="1720932"/>
          </a:xfrm>
          <a:custGeom>
            <a:avLst/>
            <a:gdLst/>
            <a:ahLst/>
            <a:cxnLst/>
            <a:rect l="l" t="t" r="r" b="b"/>
            <a:pathLst>
              <a:path w="2815430" h="1720932">
                <a:moveTo>
                  <a:pt x="0" y="0"/>
                </a:moveTo>
                <a:lnTo>
                  <a:pt x="2815430" y="0"/>
                </a:lnTo>
                <a:lnTo>
                  <a:pt x="2815430" y="1720932"/>
                </a:lnTo>
                <a:lnTo>
                  <a:pt x="0" y="17209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1412433" y="6544385"/>
            <a:ext cx="4742147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9812643" y="6801560"/>
            <a:ext cx="4742147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2572145"/>
            <a:ext cx="9415700" cy="150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0"/>
              </a:lnSpc>
            </a:pPr>
            <a:r>
              <a:rPr lang="en-US" sz="12077" b="1" spc="-905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Our Products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8904" y="5514824"/>
            <a:ext cx="8069413" cy="86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4"/>
              </a:lnSpc>
            </a:pPr>
            <a:r>
              <a:rPr lang="en-US" sz="7026" b="1" spc="-52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Fiverr Crafts: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5906" y="7181850"/>
            <a:ext cx="7113170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Wall decor, bookmarks, eco-cards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Made with dried </a:t>
            </a:r>
            <a:r>
              <a:rPr lang="en-US" sz="3000" b="1" spc="-225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 leaves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Sold to eco-conscious buyers worldwide</a:t>
            </a:r>
          </a:p>
          <a:p>
            <a:pPr algn="l">
              <a:lnSpc>
                <a:spcPts val="3600"/>
              </a:lnSpc>
            </a:pPr>
            <a:endParaRPr lang="en-US" sz="3000" b="1" spc="-225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12643" y="5032259"/>
            <a:ext cx="8365893" cy="166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4"/>
              </a:lnSpc>
            </a:pPr>
            <a:r>
              <a:rPr lang="en-US" sz="7026" b="1" spc="-52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Washroom Fragrance: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8317" y="7181850"/>
            <a:ext cx="7113170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Floral air freshener from </a:t>
            </a:r>
            <a:r>
              <a:rPr lang="en-US" sz="3000" b="1" spc="-225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flowers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Chemical-free, eco-safe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Ideal for homes, resorts, offices in Bangladesh</a:t>
            </a:r>
          </a:p>
          <a:p>
            <a:pPr algn="l">
              <a:lnSpc>
                <a:spcPts val="3600"/>
              </a:lnSpc>
            </a:pPr>
            <a:endParaRPr lang="en-US" sz="3000" b="1" spc="-225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098112" y="1687199"/>
            <a:ext cx="7008606" cy="2919811"/>
            <a:chOff x="0" y="0"/>
            <a:chExt cx="1085816" cy="452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5816" cy="452355"/>
            </a:xfrm>
            <a:custGeom>
              <a:avLst/>
              <a:gdLst/>
              <a:ahLst/>
              <a:cxnLst/>
              <a:rect l="l" t="t" r="r" b="b"/>
              <a:pathLst>
                <a:path w="1085816" h="452355">
                  <a:moveTo>
                    <a:pt x="22093" y="0"/>
                  </a:moveTo>
                  <a:lnTo>
                    <a:pt x="1063724" y="0"/>
                  </a:lnTo>
                  <a:cubicBezTo>
                    <a:pt x="1069583" y="0"/>
                    <a:pt x="1075202" y="2328"/>
                    <a:pt x="1079346" y="6471"/>
                  </a:cubicBezTo>
                  <a:cubicBezTo>
                    <a:pt x="1083489" y="10614"/>
                    <a:pt x="1085816" y="16233"/>
                    <a:pt x="1085816" y="22093"/>
                  </a:cubicBezTo>
                  <a:lnTo>
                    <a:pt x="1085816" y="430262"/>
                  </a:lnTo>
                  <a:cubicBezTo>
                    <a:pt x="1085816" y="436122"/>
                    <a:pt x="1083489" y="441741"/>
                    <a:pt x="1079346" y="445884"/>
                  </a:cubicBezTo>
                  <a:cubicBezTo>
                    <a:pt x="1075202" y="450027"/>
                    <a:pt x="1069583" y="452355"/>
                    <a:pt x="1063724" y="452355"/>
                  </a:cubicBezTo>
                  <a:lnTo>
                    <a:pt x="22093" y="452355"/>
                  </a:lnTo>
                  <a:cubicBezTo>
                    <a:pt x="16233" y="452355"/>
                    <a:pt x="10614" y="450027"/>
                    <a:pt x="6471" y="445884"/>
                  </a:cubicBezTo>
                  <a:cubicBezTo>
                    <a:pt x="2328" y="441741"/>
                    <a:pt x="0" y="436122"/>
                    <a:pt x="0" y="430262"/>
                  </a:cubicBezTo>
                  <a:lnTo>
                    <a:pt x="0" y="22093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3" y="0"/>
                  </a:cubicBezTo>
                  <a:close/>
                </a:path>
              </a:pathLst>
            </a:custGeom>
            <a:blipFill>
              <a:blip r:embed="rId5"/>
              <a:stretch>
                <a:fillRect t="-16610" b="-16610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6499668" y="5143500"/>
            <a:ext cx="759632" cy="435062"/>
          </a:xfrm>
          <a:custGeom>
            <a:avLst/>
            <a:gdLst/>
            <a:ahLst/>
            <a:cxnLst/>
            <a:rect l="l" t="t" r="r" b="b"/>
            <a:pathLst>
              <a:path w="759632" h="435062">
                <a:moveTo>
                  <a:pt x="0" y="0"/>
                </a:moveTo>
                <a:lnTo>
                  <a:pt x="759632" y="0"/>
                </a:lnTo>
                <a:lnTo>
                  <a:pt x="759632" y="435062"/>
                </a:lnTo>
                <a:lnTo>
                  <a:pt x="0" y="435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684219">
            <a:off x="6403734" y="6805731"/>
            <a:ext cx="2815430" cy="1720932"/>
          </a:xfrm>
          <a:custGeom>
            <a:avLst/>
            <a:gdLst/>
            <a:ahLst/>
            <a:cxnLst/>
            <a:rect l="l" t="t" r="r" b="b"/>
            <a:pathLst>
              <a:path w="2815430" h="1720932">
                <a:moveTo>
                  <a:pt x="0" y="0"/>
                </a:moveTo>
                <a:lnTo>
                  <a:pt x="2815430" y="0"/>
                </a:lnTo>
                <a:lnTo>
                  <a:pt x="2815430" y="1720932"/>
                </a:lnTo>
                <a:lnTo>
                  <a:pt x="0" y="17209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1412433" y="6544385"/>
            <a:ext cx="4742147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9812643" y="6801560"/>
            <a:ext cx="4742147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2572145"/>
            <a:ext cx="9415700" cy="150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0"/>
              </a:lnSpc>
            </a:pPr>
            <a:r>
              <a:rPr lang="en-US" sz="12077" b="1" spc="-905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Target Market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8904" y="5514824"/>
            <a:ext cx="8069413" cy="86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4"/>
              </a:lnSpc>
            </a:pPr>
            <a:r>
              <a:rPr lang="en-US" sz="7026" b="1" spc="-52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Crafts (Fiverr):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5906" y="7181850"/>
            <a:ext cx="7113170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Global eco-lifestyle buyers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Handmade product collectors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Green-conscious gift seekers</a:t>
            </a:r>
          </a:p>
          <a:p>
            <a:pPr algn="l">
              <a:lnSpc>
                <a:spcPts val="3600"/>
              </a:lnSpc>
            </a:pPr>
            <a:endParaRPr lang="en-US" sz="3000" b="1" spc="-225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12643" y="5032259"/>
            <a:ext cx="8365893" cy="166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4"/>
              </a:lnSpc>
            </a:pPr>
            <a:r>
              <a:rPr lang="en-US" sz="7026" b="1" spc="-52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Fragrance (Bangladesh):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8317" y="7160662"/>
            <a:ext cx="7113170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Urban households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Eco-friendly offices &amp; hotels</a:t>
            </a:r>
          </a:p>
          <a:p>
            <a:pPr marL="647703" lvl="1" indent="-323852" algn="l">
              <a:lnSpc>
                <a:spcPts val="3600"/>
              </a:lnSpc>
              <a:buFont typeface="Arial"/>
              <a:buChar char="•"/>
            </a:pPr>
            <a:r>
              <a:rPr lang="en-US" sz="3000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Organic product buyers &amp; gift pack brands</a:t>
            </a:r>
          </a:p>
          <a:p>
            <a:pPr algn="l">
              <a:lnSpc>
                <a:spcPts val="3600"/>
              </a:lnSpc>
            </a:pPr>
            <a:endParaRPr lang="en-US" sz="3000" b="1" spc="-225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3848" y="3254506"/>
            <a:ext cx="11165716" cy="5931787"/>
          </a:xfrm>
          <a:custGeom>
            <a:avLst/>
            <a:gdLst/>
            <a:ahLst/>
            <a:cxnLst/>
            <a:rect l="l" t="t" r="r" b="b"/>
            <a:pathLst>
              <a:path w="11165716" h="5931787">
                <a:moveTo>
                  <a:pt x="0" y="0"/>
                </a:moveTo>
                <a:lnTo>
                  <a:pt x="11165716" y="0"/>
                </a:lnTo>
                <a:lnTo>
                  <a:pt x="11165716" y="5931787"/>
                </a:lnTo>
                <a:lnTo>
                  <a:pt x="0" y="5931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7990" y="1485900"/>
            <a:ext cx="16097451" cy="94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2"/>
              </a:lnSpc>
            </a:pPr>
            <a:r>
              <a:rPr lang="en-US" sz="7673" b="1" spc="-575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Break Even Point – </a:t>
            </a:r>
            <a:r>
              <a:rPr lang="en-US" sz="7673" b="1" spc="-57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When Profit Begins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45107" y="4814831"/>
            <a:ext cx="6742893" cy="227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50"/>
              </a:lnSpc>
            </a:pPr>
            <a:r>
              <a:rPr lang="en-US" sz="3500" spc="-122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Break-Even Point Calculation:</a:t>
            </a:r>
          </a:p>
          <a:p>
            <a:pPr algn="just">
              <a:lnSpc>
                <a:spcPts val="4550"/>
              </a:lnSpc>
            </a:pPr>
            <a:r>
              <a:rPr lang="en-US" sz="3500" spc="-122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Break-Even(Months)=৳60,000/৳32,600                          ................................≈1.84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768901" y="2569050"/>
            <a:ext cx="5359074" cy="7617991"/>
          </a:xfrm>
          <a:custGeom>
            <a:avLst/>
            <a:gdLst/>
            <a:ahLst/>
            <a:cxnLst/>
            <a:rect l="l" t="t" r="r" b="b"/>
            <a:pathLst>
              <a:path w="5359074" h="7617991">
                <a:moveTo>
                  <a:pt x="0" y="0"/>
                </a:moveTo>
                <a:lnTo>
                  <a:pt x="5359073" y="0"/>
                </a:lnTo>
                <a:lnTo>
                  <a:pt x="5359073" y="7617991"/>
                </a:lnTo>
                <a:lnTo>
                  <a:pt x="0" y="7617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13" b="-480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37335" y="3094923"/>
            <a:ext cx="11301259" cy="5452857"/>
          </a:xfrm>
          <a:custGeom>
            <a:avLst/>
            <a:gdLst/>
            <a:ahLst/>
            <a:cxnLst/>
            <a:rect l="l" t="t" r="r" b="b"/>
            <a:pathLst>
              <a:path w="11301259" h="5452857">
                <a:moveTo>
                  <a:pt x="0" y="0"/>
                </a:moveTo>
                <a:lnTo>
                  <a:pt x="11301259" y="0"/>
                </a:lnTo>
                <a:lnTo>
                  <a:pt x="11301259" y="5452858"/>
                </a:lnTo>
                <a:lnTo>
                  <a:pt x="0" y="5452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286" y="1135910"/>
            <a:ext cx="14274190" cy="171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7200" b="1" spc="-54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Average Monthly </a:t>
            </a:r>
            <a:r>
              <a:rPr lang="en-US" sz="7200" b="1" spc="-54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Profit</a:t>
            </a:r>
            <a:r>
              <a:rPr lang="en-US" sz="7200" b="1" spc="-54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</a:t>
            </a:r>
            <a:r>
              <a:rPr lang="en-US" sz="7200" b="1" spc="-54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(Top 5 Products):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415970" y="8900206"/>
            <a:ext cx="13620872" cy="1245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1"/>
              </a:lnSpc>
            </a:pPr>
            <a:r>
              <a:rPr lang="en-US" sz="4900" b="1" spc="-36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We reach break-even in just 2 months, and earn pure profit from month 3 onward!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84" y="1512159"/>
            <a:ext cx="18164416" cy="99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6"/>
              </a:lnSpc>
            </a:pPr>
            <a:r>
              <a:rPr lang="en-US" sz="8073" b="1" spc="-605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Essential Machines &amp;</a:t>
            </a:r>
            <a:r>
              <a:rPr lang="en-US" sz="8073" b="1" spc="-60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Estimated Costs</a:t>
            </a:r>
          </a:p>
        </p:txBody>
      </p:sp>
      <p:sp>
        <p:nvSpPr>
          <p:cNvPr id="12" name="Freeform 12"/>
          <p:cNvSpPr/>
          <p:nvPr/>
        </p:nvSpPr>
        <p:spPr>
          <a:xfrm rot="-541160" flipH="1">
            <a:off x="9676099" y="2540226"/>
            <a:ext cx="4319906" cy="2278750"/>
          </a:xfrm>
          <a:custGeom>
            <a:avLst/>
            <a:gdLst/>
            <a:ahLst/>
            <a:cxnLst/>
            <a:rect l="l" t="t" r="r" b="b"/>
            <a:pathLst>
              <a:path w="4319906" h="2278750">
                <a:moveTo>
                  <a:pt x="4319906" y="0"/>
                </a:moveTo>
                <a:lnTo>
                  <a:pt x="0" y="0"/>
                </a:lnTo>
                <a:lnTo>
                  <a:pt x="0" y="2278750"/>
                </a:lnTo>
                <a:lnTo>
                  <a:pt x="4319906" y="2278750"/>
                </a:lnTo>
                <a:lnTo>
                  <a:pt x="431990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0259" y="3230946"/>
            <a:ext cx="12154463" cy="622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8138" lvl="1" indent="-529069" algn="l">
              <a:lnSpc>
                <a:spcPts val="4459"/>
              </a:lnSpc>
              <a:buFont typeface="Arial"/>
              <a:buChar char="•"/>
            </a:pPr>
            <a:r>
              <a:rPr lang="en-US" sz="4901" b="1" spc="-36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Save time by speeding up cutting, drying, sewing, and mixing</a:t>
            </a:r>
          </a:p>
          <a:p>
            <a:pPr marL="1058138" lvl="1" indent="-529069" algn="l">
              <a:lnSpc>
                <a:spcPts val="4459"/>
              </a:lnSpc>
              <a:buFont typeface="Arial"/>
              <a:buChar char="•"/>
            </a:pPr>
            <a:r>
              <a:rPr lang="en-US" sz="4901" b="1" spc="-36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Ensure consistent quality for global markets like Fiverr</a:t>
            </a:r>
          </a:p>
          <a:p>
            <a:pPr marL="1058138" lvl="1" indent="-529069" algn="l">
              <a:lnSpc>
                <a:spcPts val="4459"/>
              </a:lnSpc>
              <a:buFont typeface="Arial"/>
              <a:buChar char="•"/>
            </a:pPr>
            <a:r>
              <a:rPr lang="en-US" sz="4901" b="1" spc="-36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Increase production capacity for larger orders</a:t>
            </a:r>
          </a:p>
          <a:p>
            <a:pPr marL="1058138" lvl="1" indent="-529069" algn="l">
              <a:lnSpc>
                <a:spcPts val="4459"/>
              </a:lnSpc>
              <a:buFont typeface="Arial"/>
              <a:buChar char="•"/>
            </a:pPr>
            <a:r>
              <a:rPr lang="en-US" sz="4901" b="1" spc="-36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Lower labor costs and increase profit margins</a:t>
            </a:r>
          </a:p>
          <a:p>
            <a:pPr marL="1058138" lvl="1" indent="-529069" algn="l">
              <a:lnSpc>
                <a:spcPts val="4459"/>
              </a:lnSpc>
              <a:buFont typeface="Arial"/>
              <a:buChar char="•"/>
            </a:pPr>
            <a:r>
              <a:rPr lang="en-US" sz="4901" b="1" spc="-36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Create uniform products that build customer trust</a:t>
            </a:r>
          </a:p>
          <a:p>
            <a:pPr algn="l">
              <a:lnSpc>
                <a:spcPts val="4459"/>
              </a:lnSpc>
            </a:pPr>
            <a:endParaRPr lang="en-US" sz="4901" b="1" spc="-367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028700" y="4465912"/>
            <a:ext cx="1943885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H="1" flipV="1">
            <a:off x="10973897" y="7810500"/>
            <a:ext cx="0" cy="144780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H="1" flipV="1">
            <a:off x="14469187" y="7810500"/>
            <a:ext cx="0" cy="144780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28700" y="2489543"/>
            <a:ext cx="10066078" cy="143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39"/>
              </a:lnSpc>
            </a:pPr>
            <a:r>
              <a:rPr lang="en-US" sz="11472" b="1" spc="-860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Why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877455" y="2422489"/>
            <a:ext cx="3381845" cy="4338991"/>
            <a:chOff x="0" y="0"/>
            <a:chExt cx="523936" cy="6722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3936" cy="672223"/>
            </a:xfrm>
            <a:custGeom>
              <a:avLst/>
              <a:gdLst/>
              <a:ahLst/>
              <a:cxnLst/>
              <a:rect l="l" t="t" r="r" b="b"/>
              <a:pathLst>
                <a:path w="523936" h="672223">
                  <a:moveTo>
                    <a:pt x="52653" y="0"/>
                  </a:moveTo>
                  <a:lnTo>
                    <a:pt x="471283" y="0"/>
                  </a:lnTo>
                  <a:cubicBezTo>
                    <a:pt x="485248" y="0"/>
                    <a:pt x="498640" y="5547"/>
                    <a:pt x="508515" y="15422"/>
                  </a:cubicBezTo>
                  <a:cubicBezTo>
                    <a:pt x="518389" y="25296"/>
                    <a:pt x="523936" y="38689"/>
                    <a:pt x="523936" y="52653"/>
                  </a:cubicBezTo>
                  <a:lnTo>
                    <a:pt x="523936" y="619570"/>
                  </a:lnTo>
                  <a:cubicBezTo>
                    <a:pt x="523936" y="648650"/>
                    <a:pt x="500363" y="672223"/>
                    <a:pt x="471283" y="672223"/>
                  </a:cubicBezTo>
                  <a:lnTo>
                    <a:pt x="52653" y="672223"/>
                  </a:lnTo>
                  <a:cubicBezTo>
                    <a:pt x="23574" y="672223"/>
                    <a:pt x="0" y="648650"/>
                    <a:pt x="0" y="619570"/>
                  </a:cubicBezTo>
                  <a:lnTo>
                    <a:pt x="0" y="52653"/>
                  </a:lnTo>
                  <a:cubicBezTo>
                    <a:pt x="0" y="23574"/>
                    <a:pt x="23574" y="0"/>
                    <a:pt x="52653" y="0"/>
                  </a:cubicBezTo>
                  <a:close/>
                </a:path>
              </a:pathLst>
            </a:custGeom>
            <a:blipFill>
              <a:blip r:embed="rId5"/>
              <a:stretch>
                <a:fillRect l="-46287" r="-4628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947798" y="3282171"/>
            <a:ext cx="2711802" cy="3479309"/>
            <a:chOff x="0" y="0"/>
            <a:chExt cx="523936" cy="6722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3936" cy="672223"/>
            </a:xfrm>
            <a:custGeom>
              <a:avLst/>
              <a:gdLst/>
              <a:ahLst/>
              <a:cxnLst/>
              <a:rect l="l" t="t" r="r" b="b"/>
              <a:pathLst>
                <a:path w="523936" h="672223">
                  <a:moveTo>
                    <a:pt x="65663" y="0"/>
                  </a:moveTo>
                  <a:lnTo>
                    <a:pt x="458274" y="0"/>
                  </a:lnTo>
                  <a:cubicBezTo>
                    <a:pt x="475689" y="0"/>
                    <a:pt x="492390" y="6918"/>
                    <a:pt x="504704" y="19232"/>
                  </a:cubicBezTo>
                  <a:cubicBezTo>
                    <a:pt x="517018" y="31546"/>
                    <a:pt x="523936" y="48248"/>
                    <a:pt x="523936" y="65663"/>
                  </a:cubicBezTo>
                  <a:lnTo>
                    <a:pt x="523936" y="606561"/>
                  </a:lnTo>
                  <a:cubicBezTo>
                    <a:pt x="523936" y="642825"/>
                    <a:pt x="494538" y="672223"/>
                    <a:pt x="458274" y="672223"/>
                  </a:cubicBezTo>
                  <a:lnTo>
                    <a:pt x="65663" y="672223"/>
                  </a:lnTo>
                  <a:cubicBezTo>
                    <a:pt x="48248" y="672223"/>
                    <a:pt x="31546" y="665305"/>
                    <a:pt x="19232" y="652991"/>
                  </a:cubicBezTo>
                  <a:cubicBezTo>
                    <a:pt x="6918" y="640677"/>
                    <a:pt x="0" y="623975"/>
                    <a:pt x="0" y="606561"/>
                  </a:cubicBezTo>
                  <a:lnTo>
                    <a:pt x="0" y="65663"/>
                  </a:lnTo>
                  <a:cubicBezTo>
                    <a:pt x="0" y="29398"/>
                    <a:pt x="29398" y="0"/>
                    <a:pt x="65663" y="0"/>
                  </a:cubicBezTo>
                  <a:close/>
                </a:path>
              </a:pathLst>
            </a:custGeom>
            <a:blipFill>
              <a:blip r:embed="rId6"/>
              <a:stretch>
                <a:fillRect l="-46226" r="-46226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7685618" y="6761480"/>
            <a:ext cx="652598" cy="373760"/>
          </a:xfrm>
          <a:custGeom>
            <a:avLst/>
            <a:gdLst/>
            <a:ahLst/>
            <a:cxnLst/>
            <a:rect l="l" t="t" r="r" b="b"/>
            <a:pathLst>
              <a:path w="652598" h="373760">
                <a:moveTo>
                  <a:pt x="0" y="0"/>
                </a:moveTo>
                <a:lnTo>
                  <a:pt x="652598" y="0"/>
                </a:lnTo>
                <a:lnTo>
                  <a:pt x="652598" y="373761"/>
                </a:lnTo>
                <a:lnTo>
                  <a:pt x="0" y="373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10219" y="3990621"/>
            <a:ext cx="7418504" cy="690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7"/>
              </a:lnSpc>
            </a:pPr>
            <a:r>
              <a:rPr lang="en-US" sz="5547" b="1" spc="-416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This Business Will Work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85618" y="7886700"/>
            <a:ext cx="2592137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-1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No major competitors in this niche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12075" y="7886700"/>
            <a:ext cx="3430557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-1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Growing global demand for eco-friendly products</a:t>
            </a:r>
          </a:p>
          <a:p>
            <a:pPr algn="l">
              <a:lnSpc>
                <a:spcPts val="2880"/>
              </a:lnSpc>
            </a:pPr>
            <a:endParaRPr lang="en-US" sz="2400" b="1" spc="-180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700" y="6723380"/>
            <a:ext cx="3885388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799" spc="-97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Abundant raw material (</a:t>
            </a:r>
            <a:r>
              <a:rPr lang="en-US" sz="2799" spc="-97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Kocuri</a:t>
            </a:r>
            <a:r>
              <a:rPr lang="en-US" sz="2799" spc="-97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grows naturally)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6985531" y="6761480"/>
            <a:ext cx="0" cy="249682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028700" y="6255727"/>
            <a:ext cx="388898" cy="95420"/>
            <a:chOff x="0" y="0"/>
            <a:chExt cx="102426" cy="251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426" cy="25131"/>
            </a:xfrm>
            <a:custGeom>
              <a:avLst/>
              <a:gdLst/>
              <a:ahLst/>
              <a:cxnLst/>
              <a:rect l="l" t="t" r="r" b="b"/>
              <a:pathLst>
                <a:path w="102426" h="25131">
                  <a:moveTo>
                    <a:pt x="12566" y="0"/>
                  </a:moveTo>
                  <a:lnTo>
                    <a:pt x="89860" y="0"/>
                  </a:lnTo>
                  <a:cubicBezTo>
                    <a:pt x="96800" y="0"/>
                    <a:pt x="102426" y="5626"/>
                    <a:pt x="102426" y="12566"/>
                  </a:cubicBezTo>
                  <a:lnTo>
                    <a:pt x="102426" y="12566"/>
                  </a:lnTo>
                  <a:cubicBezTo>
                    <a:pt x="102426" y="15898"/>
                    <a:pt x="101102" y="19094"/>
                    <a:pt x="98745" y="21451"/>
                  </a:cubicBezTo>
                  <a:cubicBezTo>
                    <a:pt x="96389" y="23807"/>
                    <a:pt x="93193" y="25131"/>
                    <a:pt x="89860" y="25131"/>
                  </a:cubicBezTo>
                  <a:lnTo>
                    <a:pt x="12566" y="25131"/>
                  </a:lnTo>
                  <a:cubicBezTo>
                    <a:pt x="9233" y="25131"/>
                    <a:pt x="6037" y="23807"/>
                    <a:pt x="3680" y="21451"/>
                  </a:cubicBezTo>
                  <a:cubicBezTo>
                    <a:pt x="1324" y="19094"/>
                    <a:pt x="0" y="15898"/>
                    <a:pt x="0" y="12566"/>
                  </a:cubicBezTo>
                  <a:lnTo>
                    <a:pt x="0" y="12566"/>
                  </a:lnTo>
                  <a:cubicBezTo>
                    <a:pt x="0" y="9233"/>
                    <a:pt x="1324" y="6037"/>
                    <a:pt x="3680" y="3680"/>
                  </a:cubicBezTo>
                  <a:cubicBezTo>
                    <a:pt x="6037" y="1324"/>
                    <a:pt x="9233" y="0"/>
                    <a:pt x="12566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2426" cy="82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rot="-991269" flipH="1">
            <a:off x="9770490" y="2732345"/>
            <a:ext cx="3190438" cy="1950155"/>
          </a:xfrm>
          <a:custGeom>
            <a:avLst/>
            <a:gdLst/>
            <a:ahLst/>
            <a:cxnLst/>
            <a:rect l="l" t="t" r="r" b="b"/>
            <a:pathLst>
              <a:path w="3190438" h="1950155">
                <a:moveTo>
                  <a:pt x="3190438" y="0"/>
                </a:moveTo>
                <a:lnTo>
                  <a:pt x="0" y="0"/>
                </a:lnTo>
                <a:lnTo>
                  <a:pt x="0" y="1950155"/>
                </a:lnTo>
                <a:lnTo>
                  <a:pt x="3190438" y="1950155"/>
                </a:lnTo>
                <a:lnTo>
                  <a:pt x="3190438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28700" y="8049895"/>
            <a:ext cx="5256743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 spc="-21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Low-cost startup with digital platforms (Fiverr, Facebook, Etsy)</a:t>
            </a:r>
          </a:p>
          <a:p>
            <a:pPr algn="l">
              <a:lnSpc>
                <a:spcPts val="3360"/>
              </a:lnSpc>
            </a:pPr>
            <a:endParaRPr lang="en-US" sz="2800" b="1" spc="-210" dirty="0">
              <a:solidFill>
                <a:srgbClr val="FFFFFF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324104" y="7886700"/>
            <a:ext cx="3035739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spc="-18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Addresses plastic pollution and unemployment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28700" y="7881937"/>
            <a:ext cx="4652439" cy="4762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693076"/>
            <a:ext cx="254412" cy="254412"/>
          </a:xfrm>
          <a:custGeom>
            <a:avLst/>
            <a:gdLst/>
            <a:ahLst/>
            <a:cxnLst/>
            <a:rect l="l" t="t" r="r" b="b"/>
            <a:pathLst>
              <a:path w="254412" h="254412">
                <a:moveTo>
                  <a:pt x="0" y="0"/>
                </a:moveTo>
                <a:lnTo>
                  <a:pt x="254412" y="0"/>
                </a:lnTo>
                <a:lnTo>
                  <a:pt x="254412" y="254412"/>
                </a:lnTo>
                <a:lnTo>
                  <a:pt x="0" y="2544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2520315"/>
            <a:ext cx="4971599" cy="6737985"/>
            <a:chOff x="0" y="0"/>
            <a:chExt cx="770231" cy="104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0231" cy="1043890"/>
            </a:xfrm>
            <a:custGeom>
              <a:avLst/>
              <a:gdLst/>
              <a:ahLst/>
              <a:cxnLst/>
              <a:rect l="l" t="t" r="r" b="b"/>
              <a:pathLst>
                <a:path w="770231" h="1043890">
                  <a:moveTo>
                    <a:pt x="35816" y="0"/>
                  </a:moveTo>
                  <a:lnTo>
                    <a:pt x="734415" y="0"/>
                  </a:lnTo>
                  <a:cubicBezTo>
                    <a:pt x="743914" y="0"/>
                    <a:pt x="753024" y="3773"/>
                    <a:pt x="759740" y="10490"/>
                  </a:cubicBezTo>
                  <a:cubicBezTo>
                    <a:pt x="766457" y="17207"/>
                    <a:pt x="770231" y="26317"/>
                    <a:pt x="770231" y="35816"/>
                  </a:cubicBezTo>
                  <a:lnTo>
                    <a:pt x="770231" y="1008074"/>
                  </a:lnTo>
                  <a:cubicBezTo>
                    <a:pt x="770231" y="1017573"/>
                    <a:pt x="766457" y="1026683"/>
                    <a:pt x="759740" y="1033400"/>
                  </a:cubicBezTo>
                  <a:cubicBezTo>
                    <a:pt x="753024" y="1040117"/>
                    <a:pt x="743914" y="1043890"/>
                    <a:pt x="734415" y="1043890"/>
                  </a:cubicBezTo>
                  <a:lnTo>
                    <a:pt x="35816" y="1043890"/>
                  </a:lnTo>
                  <a:cubicBezTo>
                    <a:pt x="26317" y="1043890"/>
                    <a:pt x="17207" y="1040117"/>
                    <a:pt x="10490" y="1033400"/>
                  </a:cubicBezTo>
                  <a:cubicBezTo>
                    <a:pt x="3773" y="1026683"/>
                    <a:pt x="0" y="1017573"/>
                    <a:pt x="0" y="1008074"/>
                  </a:cubicBezTo>
                  <a:lnTo>
                    <a:pt x="0" y="35816"/>
                  </a:lnTo>
                  <a:cubicBezTo>
                    <a:pt x="0" y="26317"/>
                    <a:pt x="3773" y="17207"/>
                    <a:pt x="10490" y="10490"/>
                  </a:cubicBezTo>
                  <a:cubicBezTo>
                    <a:pt x="17207" y="3773"/>
                    <a:pt x="26317" y="0"/>
                    <a:pt x="35816" y="0"/>
                  </a:cubicBezTo>
                  <a:close/>
                </a:path>
              </a:pathLst>
            </a:custGeom>
            <a:blipFill>
              <a:blip r:embed="rId7"/>
              <a:stretch>
                <a:fillRect l="-97377" t="-12825" r="-5589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246903" y="6844169"/>
            <a:ext cx="2631533" cy="2414131"/>
            <a:chOff x="0" y="0"/>
            <a:chExt cx="693079" cy="6358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3079" cy="635820"/>
            </a:xfrm>
            <a:custGeom>
              <a:avLst/>
              <a:gdLst/>
              <a:ahLst/>
              <a:cxnLst/>
              <a:rect l="l" t="t" r="r" b="b"/>
              <a:pathLst>
                <a:path w="693079" h="635820">
                  <a:moveTo>
                    <a:pt x="44130" y="0"/>
                  </a:moveTo>
                  <a:lnTo>
                    <a:pt x="648949" y="0"/>
                  </a:lnTo>
                  <a:cubicBezTo>
                    <a:pt x="660653" y="0"/>
                    <a:pt x="671877" y="4649"/>
                    <a:pt x="680153" y="12925"/>
                  </a:cubicBezTo>
                  <a:cubicBezTo>
                    <a:pt x="688429" y="21201"/>
                    <a:pt x="693079" y="32426"/>
                    <a:pt x="693079" y="44130"/>
                  </a:cubicBezTo>
                  <a:lnTo>
                    <a:pt x="693079" y="591691"/>
                  </a:lnTo>
                  <a:cubicBezTo>
                    <a:pt x="693079" y="616063"/>
                    <a:pt x="673321" y="635820"/>
                    <a:pt x="648949" y="635820"/>
                  </a:cubicBezTo>
                  <a:lnTo>
                    <a:pt x="44130" y="635820"/>
                  </a:lnTo>
                  <a:cubicBezTo>
                    <a:pt x="19758" y="635820"/>
                    <a:pt x="0" y="616063"/>
                    <a:pt x="0" y="591691"/>
                  </a:cubicBezTo>
                  <a:lnTo>
                    <a:pt x="0" y="44130"/>
                  </a:lnTo>
                  <a:cubicBezTo>
                    <a:pt x="0" y="19758"/>
                    <a:pt x="19758" y="0"/>
                    <a:pt x="44130" y="0"/>
                  </a:cubicBezTo>
                  <a:close/>
                </a:path>
              </a:pathLst>
            </a:custGeom>
            <a:solidFill>
              <a:srgbClr val="061B02"/>
            </a:solidFill>
            <a:ln w="9525" cap="sq">
              <a:solidFill>
                <a:srgbClr val="81B92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93079" cy="692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7977746" y="6270939"/>
            <a:ext cx="3654248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12976171" y="6270939"/>
            <a:ext cx="4283129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2976171" y="7136161"/>
            <a:ext cx="388898" cy="95420"/>
            <a:chOff x="0" y="0"/>
            <a:chExt cx="102426" cy="251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26" cy="25131"/>
            </a:xfrm>
            <a:custGeom>
              <a:avLst/>
              <a:gdLst/>
              <a:ahLst/>
              <a:cxnLst/>
              <a:rect l="l" t="t" r="r" b="b"/>
              <a:pathLst>
                <a:path w="102426" h="25131">
                  <a:moveTo>
                    <a:pt x="12566" y="0"/>
                  </a:moveTo>
                  <a:lnTo>
                    <a:pt x="89860" y="0"/>
                  </a:lnTo>
                  <a:cubicBezTo>
                    <a:pt x="96800" y="0"/>
                    <a:pt x="102426" y="5626"/>
                    <a:pt x="102426" y="12566"/>
                  </a:cubicBezTo>
                  <a:lnTo>
                    <a:pt x="102426" y="12566"/>
                  </a:lnTo>
                  <a:cubicBezTo>
                    <a:pt x="102426" y="15898"/>
                    <a:pt x="101102" y="19094"/>
                    <a:pt x="98745" y="21451"/>
                  </a:cubicBezTo>
                  <a:cubicBezTo>
                    <a:pt x="96389" y="23807"/>
                    <a:pt x="93193" y="25131"/>
                    <a:pt x="89860" y="25131"/>
                  </a:cubicBezTo>
                  <a:lnTo>
                    <a:pt x="12566" y="25131"/>
                  </a:lnTo>
                  <a:cubicBezTo>
                    <a:pt x="9233" y="25131"/>
                    <a:pt x="6037" y="23807"/>
                    <a:pt x="3680" y="21451"/>
                  </a:cubicBezTo>
                  <a:cubicBezTo>
                    <a:pt x="1324" y="19094"/>
                    <a:pt x="0" y="15898"/>
                    <a:pt x="0" y="12566"/>
                  </a:cubicBezTo>
                  <a:lnTo>
                    <a:pt x="0" y="12566"/>
                  </a:lnTo>
                  <a:cubicBezTo>
                    <a:pt x="0" y="9233"/>
                    <a:pt x="1324" y="6037"/>
                    <a:pt x="3680" y="3680"/>
                  </a:cubicBezTo>
                  <a:cubicBezTo>
                    <a:pt x="6037" y="1324"/>
                    <a:pt x="9233" y="0"/>
                    <a:pt x="12566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02426" cy="82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87222" y="7136161"/>
            <a:ext cx="3744772" cy="2122139"/>
            <a:chOff x="0" y="0"/>
            <a:chExt cx="580163" cy="3287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80163" cy="328775"/>
            </a:xfrm>
            <a:custGeom>
              <a:avLst/>
              <a:gdLst/>
              <a:ahLst/>
              <a:cxnLst/>
              <a:rect l="l" t="t" r="r" b="b"/>
              <a:pathLst>
                <a:path w="580163" h="328775">
                  <a:moveTo>
                    <a:pt x="47550" y="0"/>
                  </a:moveTo>
                  <a:lnTo>
                    <a:pt x="532613" y="0"/>
                  </a:lnTo>
                  <a:cubicBezTo>
                    <a:pt x="558874" y="0"/>
                    <a:pt x="580163" y="21289"/>
                    <a:pt x="580163" y="47550"/>
                  </a:cubicBezTo>
                  <a:lnTo>
                    <a:pt x="580163" y="281225"/>
                  </a:lnTo>
                  <a:cubicBezTo>
                    <a:pt x="580163" y="307486"/>
                    <a:pt x="558874" y="328775"/>
                    <a:pt x="532613" y="328775"/>
                  </a:cubicBezTo>
                  <a:lnTo>
                    <a:pt x="47550" y="328775"/>
                  </a:lnTo>
                  <a:cubicBezTo>
                    <a:pt x="21289" y="328775"/>
                    <a:pt x="0" y="307486"/>
                    <a:pt x="0" y="281225"/>
                  </a:cubicBezTo>
                  <a:lnTo>
                    <a:pt x="0" y="47550"/>
                  </a:lnTo>
                  <a:cubicBezTo>
                    <a:pt x="0" y="21289"/>
                    <a:pt x="21289" y="0"/>
                    <a:pt x="47550" y="0"/>
                  </a:cubicBezTo>
                  <a:close/>
                </a:path>
              </a:pathLst>
            </a:custGeom>
            <a:blipFill>
              <a:blip r:embed="rId8"/>
              <a:stretch>
                <a:fillRect t="-8783" b="-878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7887222" y="3553550"/>
            <a:ext cx="10005960" cy="688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5499" b="1" spc="-412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It’s Important for Bangladesh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87222" y="2462494"/>
            <a:ext cx="8069413" cy="86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4"/>
              </a:lnSpc>
            </a:pPr>
            <a:r>
              <a:rPr lang="en-US" sz="7026" b="1" spc="-527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Why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8904" y="657054"/>
            <a:ext cx="143966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Salford &amp; Co.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82153" y="7342311"/>
            <a:ext cx="1784635" cy="140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154" b="1" spc="-7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Plant trees and support green initiatives.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77746" y="5054309"/>
            <a:ext cx="4270019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 spc="-210" dirty="0">
                <a:solidFill>
                  <a:srgbClr val="46840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Eco Solution: </a:t>
            </a:r>
          </a:p>
          <a:p>
            <a:pPr algn="l">
              <a:lnSpc>
                <a:spcPts val="2760"/>
              </a:lnSpc>
            </a:pPr>
            <a:r>
              <a:rPr lang="en-US" sz="2300" b="1" spc="-172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Controls invasive water weed clogging waterways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76171" y="5337679"/>
            <a:ext cx="428312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 spc="-210" dirty="0">
                <a:solidFill>
                  <a:srgbClr val="46840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Job Creation: </a:t>
            </a:r>
          </a:p>
          <a:p>
            <a:pPr algn="l">
              <a:lnSpc>
                <a:spcPts val="2760"/>
              </a:lnSpc>
            </a:pPr>
            <a:r>
              <a:rPr lang="en-US" sz="2300" b="1" spc="-172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Empowers rural women and youth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76171" y="7337812"/>
            <a:ext cx="428312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799" spc="-97" dirty="0">
                <a:solidFill>
                  <a:srgbClr val="468409"/>
                </a:solidFill>
                <a:latin typeface="Open Sauce"/>
                <a:ea typeface="Open Sauce"/>
                <a:cs typeface="Open Sauce"/>
                <a:sym typeface="Open Sauce"/>
              </a:rPr>
              <a:t>Eco Branding: </a:t>
            </a:r>
          </a:p>
          <a:p>
            <a:pPr algn="just">
              <a:lnSpc>
                <a:spcPts val="2990"/>
              </a:lnSpc>
            </a:pPr>
            <a:r>
              <a:rPr lang="en-US" sz="2300" spc="-8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Positions Bangladesh as a green innovator</a:t>
            </a:r>
          </a:p>
        </p:txBody>
      </p:sp>
      <p:sp>
        <p:nvSpPr>
          <p:cNvPr id="31" name="Freeform 31"/>
          <p:cNvSpPr/>
          <p:nvPr/>
        </p:nvSpPr>
        <p:spPr>
          <a:xfrm rot="684219">
            <a:off x="4725407" y="4730875"/>
            <a:ext cx="2549784" cy="1558555"/>
          </a:xfrm>
          <a:custGeom>
            <a:avLst/>
            <a:gdLst/>
            <a:ahLst/>
            <a:cxnLst/>
            <a:rect l="l" t="t" r="r" b="b"/>
            <a:pathLst>
              <a:path w="2549784" h="1558555">
                <a:moveTo>
                  <a:pt x="0" y="0"/>
                </a:moveTo>
                <a:lnTo>
                  <a:pt x="2549784" y="0"/>
                </a:lnTo>
                <a:lnTo>
                  <a:pt x="2549784" y="1558556"/>
                </a:lnTo>
                <a:lnTo>
                  <a:pt x="0" y="15585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976171" y="8705600"/>
            <a:ext cx="4283129" cy="163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799" spc="-97" dirty="0">
                <a:solidFill>
                  <a:srgbClr val="468409"/>
                </a:solidFill>
                <a:latin typeface="Open Sauce"/>
                <a:ea typeface="Open Sauce"/>
                <a:cs typeface="Open Sauce"/>
                <a:sym typeface="Open Sauce"/>
              </a:rPr>
              <a:t>Digital Export Boost: </a:t>
            </a:r>
          </a:p>
          <a:p>
            <a:pPr algn="just">
              <a:lnSpc>
                <a:spcPts val="3120"/>
              </a:lnSpc>
            </a:pPr>
            <a:r>
              <a:rPr lang="en-US" sz="2400" spc="-84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Links rural artisans to global markets</a:t>
            </a:r>
          </a:p>
          <a:p>
            <a:pPr algn="just">
              <a:lnSpc>
                <a:spcPts val="3120"/>
              </a:lnSpc>
            </a:pPr>
            <a:endParaRPr lang="en-US" sz="2400" spc="-84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00" b="-9000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5967482" y="-2028548"/>
            <a:ext cx="6353034" cy="18288001"/>
            <a:chOff x="0" y="0"/>
            <a:chExt cx="1673227" cy="49849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73227" cy="4984943"/>
            </a:xfrm>
            <a:custGeom>
              <a:avLst/>
              <a:gdLst/>
              <a:ahLst/>
              <a:cxnLst/>
              <a:rect l="l" t="t" r="r" b="b"/>
              <a:pathLst>
                <a:path w="1673227" h="4984943">
                  <a:moveTo>
                    <a:pt x="0" y="0"/>
                  </a:moveTo>
                  <a:lnTo>
                    <a:pt x="1673227" y="0"/>
                  </a:lnTo>
                  <a:lnTo>
                    <a:pt x="1673227" y="4984943"/>
                  </a:lnTo>
                  <a:lnTo>
                    <a:pt x="0" y="498494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73227" cy="5023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693076"/>
            <a:ext cx="254412" cy="254412"/>
          </a:xfrm>
          <a:custGeom>
            <a:avLst/>
            <a:gdLst/>
            <a:ahLst/>
            <a:cxnLst/>
            <a:rect l="l" t="t" r="r" b="b"/>
            <a:pathLst>
              <a:path w="254412" h="254412">
                <a:moveTo>
                  <a:pt x="0" y="0"/>
                </a:moveTo>
                <a:lnTo>
                  <a:pt x="254412" y="0"/>
                </a:lnTo>
                <a:lnTo>
                  <a:pt x="254412" y="254412"/>
                </a:lnTo>
                <a:lnTo>
                  <a:pt x="0" y="2544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14267389" y="9253538"/>
            <a:ext cx="2991911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28700" y="2253081"/>
            <a:ext cx="10806682" cy="122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66"/>
              </a:lnSpc>
            </a:pPr>
            <a:r>
              <a:rPr lang="en-US" sz="9259" b="1" spc="-694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Our Future Vision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8904" y="657054"/>
            <a:ext cx="143966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Salford &amp; Co.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67389" y="8774748"/>
            <a:ext cx="299191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123 Anywhere St., Any City, ST 12345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4267389" y="8469603"/>
            <a:ext cx="2991911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4267389" y="7990813"/>
            <a:ext cx="2349289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www.thinktrak.com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149308" y="9248775"/>
            <a:ext cx="2991911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149308" y="8769985"/>
            <a:ext cx="2349289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+880 1.225-567788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0149308" y="8464841"/>
            <a:ext cx="2991911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10149308" y="7986051"/>
            <a:ext cx="2349289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thinktrak25@gmail.com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028700" y="6551885"/>
            <a:ext cx="16230600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Freeform 26"/>
          <p:cNvSpPr/>
          <p:nvPr/>
        </p:nvSpPr>
        <p:spPr>
          <a:xfrm>
            <a:off x="16952006" y="5899740"/>
            <a:ext cx="307294" cy="307294"/>
          </a:xfrm>
          <a:custGeom>
            <a:avLst/>
            <a:gdLst/>
            <a:ahLst/>
            <a:cxnLst/>
            <a:rect l="l" t="t" r="r" b="b"/>
            <a:pathLst>
              <a:path w="307294" h="307294">
                <a:moveTo>
                  <a:pt x="0" y="0"/>
                </a:moveTo>
                <a:lnTo>
                  <a:pt x="307294" y="0"/>
                </a:lnTo>
                <a:lnTo>
                  <a:pt x="307294" y="307294"/>
                </a:lnTo>
                <a:lnTo>
                  <a:pt x="0" y="3072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28700" y="8831898"/>
            <a:ext cx="759632" cy="435062"/>
          </a:xfrm>
          <a:custGeom>
            <a:avLst/>
            <a:gdLst/>
            <a:ahLst/>
            <a:cxnLst/>
            <a:rect l="l" t="t" r="r" b="b"/>
            <a:pathLst>
              <a:path w="759632" h="435062">
                <a:moveTo>
                  <a:pt x="0" y="0"/>
                </a:moveTo>
                <a:lnTo>
                  <a:pt x="759632" y="0"/>
                </a:lnTo>
                <a:lnTo>
                  <a:pt x="759632" y="435061"/>
                </a:lnTo>
                <a:lnTo>
                  <a:pt x="0" y="4350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223702" flipH="1">
            <a:off x="3887801" y="6022618"/>
            <a:ext cx="3845343" cy="2028418"/>
          </a:xfrm>
          <a:custGeom>
            <a:avLst/>
            <a:gdLst/>
            <a:ahLst/>
            <a:cxnLst/>
            <a:rect l="l" t="t" r="r" b="b"/>
            <a:pathLst>
              <a:path w="3845343" h="2028418">
                <a:moveTo>
                  <a:pt x="3845343" y="0"/>
                </a:moveTo>
                <a:lnTo>
                  <a:pt x="0" y="0"/>
                </a:lnTo>
                <a:lnTo>
                  <a:pt x="0" y="2028418"/>
                </a:lnTo>
                <a:lnTo>
                  <a:pt x="3845343" y="2028418"/>
                </a:lnTo>
                <a:lnTo>
                  <a:pt x="3845343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851067" y="3823662"/>
            <a:ext cx="15951196" cy="216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9703" lvl="1" indent="-459852" algn="l">
              <a:lnSpc>
                <a:spcPts val="4217"/>
              </a:lnSpc>
              <a:buFont typeface="Arial"/>
              <a:buChar char="•"/>
            </a:pPr>
            <a:r>
              <a:rPr lang="en-US" sz="4259" b="1" spc="-3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Sell globally via Etsy, Amazon Handmade</a:t>
            </a:r>
          </a:p>
          <a:p>
            <a:pPr marL="919703" lvl="1" indent="-459852" algn="l">
              <a:lnSpc>
                <a:spcPts val="4217"/>
              </a:lnSpc>
              <a:buFont typeface="Arial"/>
              <a:buChar char="•"/>
            </a:pPr>
            <a:r>
              <a:rPr lang="en-US" sz="4259" b="1" spc="-3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Create 500+ rural jobs</a:t>
            </a:r>
          </a:p>
          <a:p>
            <a:pPr marL="919703" lvl="1" indent="-459852" algn="l">
              <a:lnSpc>
                <a:spcPts val="4217"/>
              </a:lnSpc>
              <a:buFont typeface="Arial"/>
              <a:buChar char="•"/>
            </a:pPr>
            <a:r>
              <a:rPr lang="en-US" sz="4259" b="1" spc="-3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Launch full eco-fragrance product line (bathroom, room, clothes)</a:t>
            </a:r>
          </a:p>
          <a:p>
            <a:pPr marL="919703" lvl="1" indent="-459852" algn="l">
              <a:lnSpc>
                <a:spcPts val="4217"/>
              </a:lnSpc>
              <a:buFont typeface="Arial"/>
              <a:buChar char="•"/>
            </a:pPr>
            <a:r>
              <a:rPr lang="en-US" sz="4259" b="1" spc="-3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Make </a:t>
            </a:r>
            <a:r>
              <a:rPr lang="en-US" sz="4259" b="1" spc="-319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4259" b="1" spc="-319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 Bangladesh’s symbol of green innovation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54790" y="611864"/>
            <a:ext cx="2704510" cy="416836"/>
            <a:chOff x="0" y="0"/>
            <a:chExt cx="712299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2299" cy="109784"/>
            </a:xfrm>
            <a:custGeom>
              <a:avLst/>
              <a:gdLst/>
              <a:ahLst/>
              <a:cxnLst/>
              <a:rect l="l" t="t" r="r" b="b"/>
              <a:pathLst>
                <a:path w="712299" h="109784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859586" y="720860"/>
            <a:ext cx="181129" cy="198844"/>
          </a:xfrm>
          <a:custGeom>
            <a:avLst/>
            <a:gdLst/>
            <a:ahLst/>
            <a:cxnLst/>
            <a:rect l="l" t="t" r="r" b="b"/>
            <a:pathLst>
              <a:path w="181129" h="198844">
                <a:moveTo>
                  <a:pt x="0" y="0"/>
                </a:moveTo>
                <a:lnTo>
                  <a:pt x="181129" y="0"/>
                </a:lnTo>
                <a:lnTo>
                  <a:pt x="181129" y="198844"/>
                </a:lnTo>
                <a:lnTo>
                  <a:pt x="0" y="198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693076"/>
            <a:ext cx="254412" cy="254412"/>
          </a:xfrm>
          <a:custGeom>
            <a:avLst/>
            <a:gdLst/>
            <a:ahLst/>
            <a:cxnLst/>
            <a:rect l="l" t="t" r="r" b="b"/>
            <a:pathLst>
              <a:path w="254412" h="254412">
                <a:moveTo>
                  <a:pt x="0" y="0"/>
                </a:moveTo>
                <a:lnTo>
                  <a:pt x="254412" y="0"/>
                </a:lnTo>
                <a:lnTo>
                  <a:pt x="254412" y="254412"/>
                </a:lnTo>
                <a:lnTo>
                  <a:pt x="0" y="2544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6902795"/>
            <a:ext cx="370204" cy="37020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28700" y="9253538"/>
            <a:ext cx="5077607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1600017" y="6898032"/>
            <a:ext cx="370204" cy="37020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1600017" y="9248775"/>
            <a:ext cx="5659283" cy="0"/>
          </a:xfrm>
          <a:prstGeom prst="line">
            <a:avLst/>
          </a:prstGeom>
          <a:ln w="9525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7254408" y="6803079"/>
            <a:ext cx="3335804" cy="3884483"/>
            <a:chOff x="0" y="0"/>
            <a:chExt cx="644497" cy="75050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4497" cy="750505"/>
            </a:xfrm>
            <a:custGeom>
              <a:avLst/>
              <a:gdLst/>
              <a:ahLst/>
              <a:cxnLst/>
              <a:rect l="l" t="t" r="r" b="b"/>
              <a:pathLst>
                <a:path w="644497" h="750505">
                  <a:moveTo>
                    <a:pt x="53380" y="0"/>
                  </a:moveTo>
                  <a:lnTo>
                    <a:pt x="591118" y="0"/>
                  </a:lnTo>
                  <a:cubicBezTo>
                    <a:pt x="620598" y="0"/>
                    <a:pt x="644497" y="23899"/>
                    <a:pt x="644497" y="53380"/>
                  </a:cubicBezTo>
                  <a:lnTo>
                    <a:pt x="644497" y="697125"/>
                  </a:lnTo>
                  <a:cubicBezTo>
                    <a:pt x="644497" y="726606"/>
                    <a:pt x="620598" y="750505"/>
                    <a:pt x="591118" y="750505"/>
                  </a:cubicBezTo>
                  <a:lnTo>
                    <a:pt x="53380" y="750505"/>
                  </a:lnTo>
                  <a:cubicBezTo>
                    <a:pt x="23899" y="750505"/>
                    <a:pt x="0" y="726606"/>
                    <a:pt x="0" y="697125"/>
                  </a:cubicBezTo>
                  <a:lnTo>
                    <a:pt x="0" y="53380"/>
                  </a:lnTo>
                  <a:cubicBezTo>
                    <a:pt x="0" y="23899"/>
                    <a:pt x="23899" y="0"/>
                    <a:pt x="53380" y="0"/>
                  </a:cubicBezTo>
                  <a:close/>
                </a:path>
              </a:pathLst>
            </a:custGeom>
            <a:blipFill>
              <a:blip r:embed="rId7"/>
              <a:stretch>
                <a:fillRect l="-23775" t="-3789" r="-61020" b="-213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254408" y="5856863"/>
            <a:ext cx="588330" cy="128659"/>
            <a:chOff x="0" y="0"/>
            <a:chExt cx="154951" cy="338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4951" cy="33885"/>
            </a:xfrm>
            <a:custGeom>
              <a:avLst/>
              <a:gdLst/>
              <a:ahLst/>
              <a:cxnLst/>
              <a:rect l="l" t="t" r="r" b="b"/>
              <a:pathLst>
                <a:path w="154951" h="33885">
                  <a:moveTo>
                    <a:pt x="16943" y="0"/>
                  </a:moveTo>
                  <a:lnTo>
                    <a:pt x="138008" y="0"/>
                  </a:lnTo>
                  <a:cubicBezTo>
                    <a:pt x="147366" y="0"/>
                    <a:pt x="154951" y="7586"/>
                    <a:pt x="154951" y="16943"/>
                  </a:cubicBezTo>
                  <a:lnTo>
                    <a:pt x="154951" y="16943"/>
                  </a:lnTo>
                  <a:cubicBezTo>
                    <a:pt x="154951" y="26300"/>
                    <a:pt x="147366" y="33885"/>
                    <a:pt x="138008" y="33885"/>
                  </a:cubicBezTo>
                  <a:lnTo>
                    <a:pt x="16943" y="33885"/>
                  </a:lnTo>
                  <a:cubicBezTo>
                    <a:pt x="7586" y="33885"/>
                    <a:pt x="0" y="26300"/>
                    <a:pt x="0" y="16943"/>
                  </a:cubicBezTo>
                  <a:lnTo>
                    <a:pt x="0" y="16943"/>
                  </a:lnTo>
                  <a:cubicBezTo>
                    <a:pt x="0" y="7586"/>
                    <a:pt x="7586" y="0"/>
                    <a:pt x="16943" y="0"/>
                  </a:cubicBezTo>
                  <a:close/>
                </a:path>
              </a:pathLst>
            </a:custGeom>
            <a:solidFill>
              <a:srgbClr val="81B92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54951" cy="91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2426939"/>
            <a:ext cx="5440306" cy="99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8000" b="1" spc="-600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Conclusion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78436" y="657054"/>
            <a:ext cx="751945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81B922"/>
                </a:solidFill>
                <a:latin typeface="Telegraf Bold"/>
                <a:ea typeface="Telegraf Bold"/>
                <a:cs typeface="Telegraf Bold"/>
                <a:sym typeface="Telegraf Bold"/>
              </a:rPr>
              <a:t>Home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67106" y="657054"/>
            <a:ext cx="928073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Services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86033" y="657054"/>
            <a:ext cx="923532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About Us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31904" y="657054"/>
            <a:ext cx="917404" cy="26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FFFFFF">
                    <a:alpha val="60000"/>
                  </a:srgbClr>
                </a:solidFill>
                <a:latin typeface="Telegraf"/>
                <a:ea typeface="Telegraf"/>
                <a:cs typeface="Telegraf"/>
                <a:sym typeface="Telegraf"/>
              </a:rPr>
              <a:t>Features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8904" y="657054"/>
            <a:ext cx="1439661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5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Salford &amp; Co.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3453371"/>
            <a:ext cx="12553653" cy="161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04"/>
              </a:lnSpc>
            </a:pPr>
            <a:r>
              <a:rPr lang="en-US" sz="12971" b="1" spc="-972" dirty="0">
                <a:solidFill>
                  <a:srgbClr val="81B92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&amp; Call to Action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19000" y="6803079"/>
            <a:ext cx="4287307" cy="191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-31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Let’s Build Bangladesh, Naturally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42667" y="6798316"/>
            <a:ext cx="5789618" cy="22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3013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Support local innovation.</a:t>
            </a:r>
          </a:p>
          <a:p>
            <a:pPr algn="l">
              <a:lnSpc>
                <a:spcPts val="3615"/>
              </a:lnSpc>
            </a:pPr>
            <a:r>
              <a:rPr lang="en-US" sz="3013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Choose eco-friendly products over plastic.</a:t>
            </a:r>
          </a:p>
          <a:p>
            <a:pPr algn="l">
              <a:lnSpc>
                <a:spcPts val="3615"/>
              </a:lnSpc>
            </a:pPr>
            <a:r>
              <a:rPr lang="en-US" sz="3013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Make </a:t>
            </a:r>
            <a:r>
              <a:rPr lang="en-US" sz="3013" b="1" spc="-225" dirty="0" err="1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Kocuri</a:t>
            </a:r>
            <a:r>
              <a:rPr lang="en-US" sz="3013" b="1" spc="-225" dirty="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Pana the face of Bangladesh’s green future!</a:t>
            </a:r>
          </a:p>
        </p:txBody>
      </p:sp>
      <p:sp>
        <p:nvSpPr>
          <p:cNvPr id="30" name="Freeform 30"/>
          <p:cNvSpPr/>
          <p:nvPr/>
        </p:nvSpPr>
        <p:spPr>
          <a:xfrm rot="-541160" flipH="1">
            <a:off x="9601787" y="4258461"/>
            <a:ext cx="3845343" cy="2028418"/>
          </a:xfrm>
          <a:custGeom>
            <a:avLst/>
            <a:gdLst/>
            <a:ahLst/>
            <a:cxnLst/>
            <a:rect l="l" t="t" r="r" b="b"/>
            <a:pathLst>
              <a:path w="3845343" h="2028418">
                <a:moveTo>
                  <a:pt x="3845343" y="0"/>
                </a:moveTo>
                <a:lnTo>
                  <a:pt x="0" y="0"/>
                </a:lnTo>
                <a:lnTo>
                  <a:pt x="0" y="2028419"/>
                </a:lnTo>
                <a:lnTo>
                  <a:pt x="3845343" y="2028419"/>
                </a:lnTo>
                <a:lnTo>
                  <a:pt x="3845343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610</Words>
  <Application>Microsoft Office PowerPoint</Application>
  <PresentationFormat>Custom</PresentationFormat>
  <Paragraphs>154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Open Sauce Semi-Bold</vt:lpstr>
      <vt:lpstr>Telegraf Bold</vt:lpstr>
      <vt:lpstr>Open Sauce</vt:lpstr>
      <vt:lpstr>Open Sauce Bold</vt:lpstr>
      <vt:lpstr>Arial</vt:lpstr>
      <vt:lpstr>Calibri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Nature Presentation</dc:title>
  <cp:lastModifiedBy>Anidro Paul</cp:lastModifiedBy>
  <cp:revision>4</cp:revision>
  <dcterms:created xsi:type="dcterms:W3CDTF">2006-08-16T00:00:00Z</dcterms:created>
  <dcterms:modified xsi:type="dcterms:W3CDTF">2025-07-10T20:10:40Z</dcterms:modified>
  <dc:identifier>DAGsvuLA3D0</dc:identifier>
</cp:coreProperties>
</file>